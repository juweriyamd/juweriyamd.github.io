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5"/>
  </p:notesMasterIdLst>
  <p:handoutMasterIdLst>
    <p:handoutMasterId r:id="rId16"/>
  </p:handoutMasterIdLst>
  <p:sldIdLst>
    <p:sldId id="312" r:id="rId5"/>
    <p:sldId id="304" r:id="rId6"/>
    <p:sldId id="281" r:id="rId7"/>
    <p:sldId id="282" r:id="rId8"/>
    <p:sldId id="307" r:id="rId9"/>
    <p:sldId id="314" r:id="rId10"/>
    <p:sldId id="315" r:id="rId11"/>
    <p:sldId id="317" r:id="rId12"/>
    <p:sldId id="318" r:id="rId13"/>
    <p:sldId id="297" r:id="rId14"/>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16E6B5-5248-4B41-A7B4-AC3F02A1B52E}" v="8" dt="2025-07-16T09:53:52.611"/>
    <p1510:client id="{E375A384-7A70-4E37-99DC-EE9287F75299}" v="14" dt="2025-07-16T11:29:23.074"/>
  </p1510:revLst>
</p1510:revInfo>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5388" autoAdjust="0"/>
  </p:normalViewPr>
  <p:slideViewPr>
    <p:cSldViewPr snapToGrid="0" snapToObjects="1">
      <p:cViewPr varScale="1">
        <p:scale>
          <a:sx n="78" d="100"/>
          <a:sy n="78" d="100"/>
        </p:scale>
        <p:origin x="869" y="7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weriya md" userId="d9dbbd063fab23d3" providerId="LiveId" clId="{E375A384-7A70-4E37-99DC-EE9287F75299}"/>
    <pc:docChg chg="modSld">
      <pc:chgData name="juweriya md" userId="d9dbbd063fab23d3" providerId="LiveId" clId="{E375A384-7A70-4E37-99DC-EE9287F75299}" dt="2025-07-17T01:39:12.023" v="337" actId="20577"/>
      <pc:docMkLst>
        <pc:docMk/>
      </pc:docMkLst>
      <pc:sldChg chg="modSp mod">
        <pc:chgData name="juweriya md" userId="d9dbbd063fab23d3" providerId="LiveId" clId="{E375A384-7A70-4E37-99DC-EE9287F75299}" dt="2025-07-17T01:39:12.023" v="337" actId="20577"/>
        <pc:sldMkLst>
          <pc:docMk/>
          <pc:sldMk cId="2952923800" sldId="281"/>
        </pc:sldMkLst>
        <pc:spChg chg="mod">
          <ac:chgData name="juweriya md" userId="d9dbbd063fab23d3" providerId="LiveId" clId="{E375A384-7A70-4E37-99DC-EE9287F75299}" dt="2025-07-17T01:39:12.023" v="337" actId="20577"/>
          <ac:spMkLst>
            <pc:docMk/>
            <pc:sldMk cId="2952923800" sldId="281"/>
            <ac:spMk id="3" creationId="{A2E339BF-E6D7-DD0E-AF02-6813852EE723}"/>
          </ac:spMkLst>
        </pc:spChg>
      </pc:sldChg>
      <pc:sldChg chg="addSp delSp modSp mod">
        <pc:chgData name="juweriya md" userId="d9dbbd063fab23d3" providerId="LiveId" clId="{E375A384-7A70-4E37-99DC-EE9287F75299}" dt="2025-07-16T11:29:23.069" v="276" actId="14100"/>
        <pc:sldMkLst>
          <pc:docMk/>
          <pc:sldMk cId="4072101725" sldId="318"/>
        </pc:sldMkLst>
        <pc:spChg chg="mod">
          <ac:chgData name="juweriya md" userId="d9dbbd063fab23d3" providerId="LiveId" clId="{E375A384-7A70-4E37-99DC-EE9287F75299}" dt="2025-07-16T11:28:19.251" v="273" actId="1076"/>
          <ac:spMkLst>
            <pc:docMk/>
            <pc:sldMk cId="4072101725" sldId="318"/>
            <ac:spMk id="3" creationId="{9443EC8A-1733-CCF7-081F-EB4667CB3285}"/>
          </ac:spMkLst>
        </pc:spChg>
        <pc:spChg chg="add del mod">
          <ac:chgData name="juweriya md" userId="d9dbbd063fab23d3" providerId="LiveId" clId="{E375A384-7A70-4E37-99DC-EE9287F75299}" dt="2025-07-16T11:23:22.633" v="222" actId="5793"/>
          <ac:spMkLst>
            <pc:docMk/>
            <pc:sldMk cId="4072101725" sldId="318"/>
            <ac:spMk id="4" creationId="{BC7A79FF-E860-88B3-CC82-95CFD396BDF8}"/>
          </ac:spMkLst>
        </pc:spChg>
        <pc:spChg chg="add mod">
          <ac:chgData name="juweriya md" userId="d9dbbd063fab23d3" providerId="LiveId" clId="{E375A384-7A70-4E37-99DC-EE9287F75299}" dt="2025-07-16T11:23:01.282" v="3" actId="478"/>
          <ac:spMkLst>
            <pc:docMk/>
            <pc:sldMk cId="4072101725" sldId="318"/>
            <ac:spMk id="5" creationId="{714E9B35-3373-8EB3-6F14-64EAD79F2921}"/>
          </ac:spMkLst>
        </pc:spChg>
        <pc:spChg chg="add del">
          <ac:chgData name="juweriya md" userId="d9dbbd063fab23d3" providerId="LiveId" clId="{E375A384-7A70-4E37-99DC-EE9287F75299}" dt="2025-07-16T11:23:41.433" v="225" actId="478"/>
          <ac:spMkLst>
            <pc:docMk/>
            <pc:sldMk cId="4072101725" sldId="318"/>
            <ac:spMk id="6" creationId="{A4FBD200-351F-6C34-535B-47D0CEC8A274}"/>
          </ac:spMkLst>
        </pc:spChg>
        <pc:spChg chg="add mod">
          <ac:chgData name="juweriya md" userId="d9dbbd063fab23d3" providerId="LiveId" clId="{E375A384-7A70-4E37-99DC-EE9287F75299}" dt="2025-07-16T11:23:39.964" v="224" actId="478"/>
          <ac:spMkLst>
            <pc:docMk/>
            <pc:sldMk cId="4072101725" sldId="318"/>
            <ac:spMk id="7" creationId="{82DE5BAB-4476-3127-BF53-4AEEEE34FBCA}"/>
          </ac:spMkLst>
        </pc:spChg>
        <pc:spChg chg="add">
          <ac:chgData name="juweriya md" userId="d9dbbd063fab23d3" providerId="LiveId" clId="{E375A384-7A70-4E37-99DC-EE9287F75299}" dt="2025-07-16T11:23:59.037" v="239"/>
          <ac:spMkLst>
            <pc:docMk/>
            <pc:sldMk cId="4072101725" sldId="318"/>
            <ac:spMk id="8" creationId="{8008E334-42F0-A2DD-A00F-587801F913C1}"/>
          </ac:spMkLst>
        </pc:spChg>
        <pc:spChg chg="add del mod">
          <ac:chgData name="juweriya md" userId="d9dbbd063fab23d3" providerId="LiveId" clId="{E375A384-7A70-4E37-99DC-EE9287F75299}" dt="2025-07-16T11:29:23.069" v="276" actId="14100"/>
          <ac:spMkLst>
            <pc:docMk/>
            <pc:sldMk cId="4072101725" sldId="318"/>
            <ac:spMk id="9" creationId="{53EBA1E6-FB18-CF68-07C0-2CD4782305D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dirty="0"/>
              <a:t>USED CARS PRICE ANALYSIS</a:t>
            </a:r>
          </a:p>
        </p:txBody>
      </p:sp>
      <p:sp>
        <p:nvSpPr>
          <p:cNvPr id="3" name="TextBox 2">
            <a:extLst>
              <a:ext uri="{FF2B5EF4-FFF2-40B4-BE49-F238E27FC236}">
                <a16:creationId xmlns:a16="http://schemas.microsoft.com/office/drawing/2014/main" id="{CB4515DC-BC70-47BF-1B84-0070D88E0BC6}"/>
              </a:ext>
            </a:extLst>
          </p:cNvPr>
          <p:cNvSpPr txBox="1"/>
          <p:nvPr/>
        </p:nvSpPr>
        <p:spPr>
          <a:xfrm>
            <a:off x="6833420" y="3995117"/>
            <a:ext cx="2222090" cy="646331"/>
          </a:xfrm>
          <a:prstGeom prst="rect">
            <a:avLst/>
          </a:prstGeom>
          <a:noFill/>
        </p:spPr>
        <p:txBody>
          <a:bodyPr wrap="square" rtlCol="0">
            <a:spAutoFit/>
          </a:bodyPr>
          <a:lstStyle/>
          <a:p>
            <a:r>
              <a:rPr lang="en-US" dirty="0"/>
              <a:t>Presented by:</a:t>
            </a:r>
          </a:p>
          <a:p>
            <a:r>
              <a:rPr lang="en-US" dirty="0"/>
              <a:t>JUWERIYA</a:t>
            </a:r>
            <a:endParaRPr lang="en-IN" dirty="0"/>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1868129"/>
            <a:ext cx="6941574" cy="4866967"/>
          </a:xfrm>
        </p:spPr>
        <p:txBody>
          <a:bodyPr>
            <a:normAutofit fontScale="85000" lnSpcReduction="20000"/>
          </a:bodyPr>
          <a:lstStyle/>
          <a:p>
            <a:pPr marL="342900" indent="-342900">
              <a:buFont typeface="Wingdings" panose="05000000000000000000" pitchFamily="2" charset="2"/>
              <a:buChar char="à"/>
            </a:pPr>
            <a:r>
              <a:rPr lang="en-US" dirty="0"/>
              <a:t>The objective of this project is to build a web scraping tool that efficiently extracts and analyzes used car listings from the Cars Dekho website. The tool captures structured details including car models, brands, location, price, fuel type, transmission, kilometers driven, and year of manufacture. By automating the data collection process, the project aims to provide regional and brand-wise market insights. </a:t>
            </a:r>
          </a:p>
          <a:p>
            <a:br>
              <a:rPr lang="en-US" dirty="0"/>
            </a:br>
            <a:r>
              <a:rPr lang="en-US" dirty="0">
                <a:sym typeface="Wingdings" panose="05000000000000000000" pitchFamily="2" charset="2"/>
              </a:rPr>
              <a:t> </a:t>
            </a:r>
            <a:r>
              <a:rPr lang="en-US" dirty="0"/>
              <a:t>This analytical approach will assist buyers and sellers in understanding real-time pricing trends, vehicle depreciation, and value dynamics, ultimately supporting smarter and more transparent decision-making in the used car industry.</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rot="10800000" flipH="1" flipV="1">
            <a:off x="11579299" y="235266"/>
            <a:ext cx="354354" cy="377125"/>
          </a:xfrm>
        </p:spPr>
        <p:txBody>
          <a:bodyPr/>
          <a:lstStyle/>
          <a:p>
            <a:r>
              <a:rPr lang="en-US" dirty="0"/>
              <a:t>2</a:t>
            </a:r>
          </a:p>
        </p:txBody>
      </p:sp>
      <p:sp>
        <p:nvSpPr>
          <p:cNvPr id="6" name="Title 5">
            <a:extLst>
              <a:ext uri="{FF2B5EF4-FFF2-40B4-BE49-F238E27FC236}">
                <a16:creationId xmlns:a16="http://schemas.microsoft.com/office/drawing/2014/main" id="{179C4478-B0C2-F0B3-34E6-17B1A06F4868}"/>
              </a:ext>
            </a:extLst>
          </p:cNvPr>
          <p:cNvSpPr>
            <a:spLocks noGrp="1"/>
          </p:cNvSpPr>
          <p:nvPr>
            <p:ph type="title"/>
          </p:nvPr>
        </p:nvSpPr>
        <p:spPr>
          <a:xfrm>
            <a:off x="914400" y="821300"/>
            <a:ext cx="6583680" cy="663371"/>
          </a:xfrm>
        </p:spPr>
        <p:txBody>
          <a:bodyPr/>
          <a:lstStyle/>
          <a:p>
            <a:r>
              <a:rPr lang="en-US" sz="2800" dirty="0">
                <a:sym typeface="Wingdings" panose="05000000000000000000" pitchFamily="2" charset="2"/>
              </a:rPr>
              <a:t>         </a:t>
            </a:r>
            <a:r>
              <a:rPr lang="en-US" sz="2800" u="sng" dirty="0">
                <a:sym typeface="Wingdings" panose="05000000000000000000" pitchFamily="2" charset="2"/>
              </a:rPr>
              <a:t>PROJECT OBJECTIVE</a:t>
            </a:r>
            <a:endParaRPr lang="en-IN" sz="2800" u="sng"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4355691" y="1057275"/>
            <a:ext cx="5259554" cy="614209"/>
          </a:xfrm>
        </p:spPr>
        <p:txBody>
          <a:bodyPr/>
          <a:lstStyle/>
          <a:p>
            <a:r>
              <a:rPr lang="en-US" dirty="0">
                <a:latin typeface="Times New Roman" panose="02020603050405020304" pitchFamily="18" charset="0"/>
                <a:cs typeface="Times New Roman" panose="02020603050405020304" pitchFamily="18" charset="0"/>
              </a:rPr>
              <a:t>MAIN AGENDA</a:t>
            </a:r>
            <a:endParaRPr lang="en-US" dirty="0"/>
          </a:p>
        </p:txBody>
      </p:sp>
      <p:sp>
        <p:nvSpPr>
          <p:cNvPr id="3" name="Text Placeholder 2">
            <a:extLst>
              <a:ext uri="{FF2B5EF4-FFF2-40B4-BE49-F238E27FC236}">
                <a16:creationId xmlns:a16="http://schemas.microsoft.com/office/drawing/2014/main" id="{A2E339BF-E6D7-DD0E-AF02-6813852EE723}"/>
              </a:ext>
            </a:extLst>
          </p:cNvPr>
          <p:cNvSpPr>
            <a:spLocks noGrp="1"/>
          </p:cNvSpPr>
          <p:nvPr>
            <p:ph idx="1"/>
          </p:nvPr>
        </p:nvSpPr>
        <p:spPr>
          <a:xfrm>
            <a:off x="914400" y="2113936"/>
            <a:ext cx="9370142" cy="3928048"/>
          </a:xfrm>
        </p:spPr>
        <p:txBody>
          <a:bodyPr>
            <a:normAutofit fontScale="92500" lnSpcReduction="10000"/>
          </a:bodyPr>
          <a:lstStyle/>
          <a:p>
            <a:pPr marL="342900" indent="-342900">
              <a:lnSpc>
                <a:spcPct val="150000"/>
              </a:lnSpc>
              <a:buFont typeface="Wingdings" panose="05000000000000000000" pitchFamily="2" charset="2"/>
              <a:buChar char="à"/>
            </a:pPr>
            <a:r>
              <a:rPr lang="en-US" dirty="0">
                <a:latin typeface="Times New Roman" panose="02020603050405020304" pitchFamily="18" charset="0"/>
                <a:cs typeface="Times New Roman" panose="02020603050405020304" pitchFamily="18" charset="0"/>
              </a:rPr>
              <a:t>Web Scrapping to collect the data  </a:t>
            </a:r>
          </a:p>
          <a:p>
            <a:pPr>
              <a:lnSpc>
                <a:spcPct val="150000"/>
              </a:lnSpc>
            </a:pPr>
            <a:r>
              <a:rPr lang="en-US" dirty="0">
                <a:latin typeface="Times New Roman" panose="02020603050405020304" pitchFamily="18" charset="0"/>
                <a:cs typeface="Times New Roman" panose="02020603050405020304" pitchFamily="18" charset="0"/>
                <a:sym typeface="Wingdings" panose="05000000000000000000" pitchFamily="2" charset="2"/>
              </a:rPr>
              <a:t> </a:t>
            </a:r>
            <a:r>
              <a:rPr lang="en-US" dirty="0">
                <a:latin typeface="Times New Roman" panose="02020603050405020304" pitchFamily="18" charset="0"/>
                <a:cs typeface="Times New Roman" panose="02020603050405020304" pitchFamily="18" charset="0"/>
              </a:rPr>
              <a:t>Data Cleaning and Manipulation </a:t>
            </a:r>
          </a:p>
          <a:p>
            <a:pPr>
              <a:lnSpc>
                <a:spcPct val="150000"/>
              </a:lnSpc>
            </a:pPr>
            <a:r>
              <a:rPr lang="en-US" dirty="0">
                <a:latin typeface="Times New Roman" panose="02020603050405020304" pitchFamily="18" charset="0"/>
                <a:cs typeface="Times New Roman" panose="02020603050405020304" pitchFamily="18" charset="0"/>
                <a:sym typeface="Wingdings" panose="05000000000000000000" pitchFamily="2" charset="2"/>
              </a:rPr>
              <a:t> </a:t>
            </a:r>
            <a:r>
              <a:rPr lang="en-US" dirty="0">
                <a:latin typeface="Times New Roman" panose="02020603050405020304" pitchFamily="18" charset="0"/>
                <a:cs typeface="Times New Roman" panose="02020603050405020304" pitchFamily="18" charset="0"/>
              </a:rPr>
              <a:t>Visualization and Analysis on various factors like avg price by brand, car distribution by brand….etc.…. to analyze above problem statements.</a:t>
            </a:r>
          </a:p>
          <a:p>
            <a:pPr algn="just">
              <a:lnSpc>
                <a:spcPct val="150000"/>
              </a:lnSpc>
            </a:pPr>
            <a:r>
              <a:rPr lang="en-US" dirty="0">
                <a:latin typeface="Times New Roman" panose="02020603050405020304" pitchFamily="18" charset="0"/>
                <a:cs typeface="Times New Roman" panose="02020603050405020304" pitchFamily="18" charset="0"/>
              </a:rPr>
              <a:t>And in-depth exploration of web scraping and data visualization using Python on the “Car Dekho” website to extract used car data across India. Learn the power of data extraction and visualization for insightful analysis of</a:t>
            </a:r>
            <a:r>
              <a:rPr lang="en-IN" dirty="0">
                <a:latin typeface="Times New Roman" panose="02020603050405020304" pitchFamily="18" charset="0"/>
                <a:cs typeface="Times New Roman" panose="02020603050405020304" pitchFamily="18" charset="0"/>
              </a:rPr>
              <a:t> market analysis</a:t>
            </a:r>
            <a:r>
              <a:rPr lang="en-US" dirty="0">
                <a:latin typeface="Times New Roman" panose="02020603050405020304" pitchFamily="18" charset="0"/>
                <a:cs typeface="Times New Roman" panose="02020603050405020304" pitchFamily="18" charset="0"/>
              </a:rPr>
              <a:t>, prices,</a:t>
            </a:r>
            <a:r>
              <a:rPr lang="en-IN" dirty="0">
                <a:latin typeface="Times New Roman" panose="02020603050405020304" pitchFamily="18" charset="0"/>
                <a:cs typeface="Times New Roman" panose="02020603050405020304" pitchFamily="18" charset="0"/>
              </a:rPr>
              <a:t> vehicle valuation </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fueltypes</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952923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5" y="1057274"/>
            <a:ext cx="7965461" cy="683036"/>
          </a:xfrm>
        </p:spPr>
        <p:txBody>
          <a:bodyPr/>
          <a:lstStyle/>
          <a:p>
            <a:r>
              <a:rPr lang="en-US" dirty="0">
                <a:latin typeface="Times New Roman" panose="02020603050405020304" pitchFamily="18" charset="0"/>
                <a:cs typeface="Times New Roman" panose="02020603050405020304" pitchFamily="18" charset="0"/>
              </a:rPr>
              <a:t>           INTRODUCTION</a:t>
            </a:r>
            <a:endParaRPr lang="en-US" dirty="0"/>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549055" y="1966452"/>
            <a:ext cx="7965460" cy="4149213"/>
          </a:xfrm>
        </p:spPr>
        <p:txBody>
          <a:bodyPr/>
          <a:lstStyle/>
          <a:p>
            <a:r>
              <a:rPr lang="en-US" dirty="0">
                <a:latin typeface="Times New Roman" panose="02020603050405020304" pitchFamily="18" charset="0"/>
                <a:cs typeface="Times New Roman" panose="02020603050405020304" pitchFamily="18" charset="0"/>
              </a:rPr>
              <a:t>The Automotive Market, particularly the Used Car Segment, is characterized by rapid fluctuations in pricing and a diverse range of options available to consumers. </a:t>
            </a:r>
          </a:p>
          <a:p>
            <a:r>
              <a:rPr lang="en-US" dirty="0">
                <a:latin typeface="Times New Roman" panose="02020603050405020304" pitchFamily="18" charset="0"/>
                <a:cs typeface="Times New Roman" panose="02020603050405020304" pitchFamily="18" charset="0"/>
              </a:rPr>
              <a:t>By leveraging Web Scraping techniques, we aim to gather essential information such as Car Models, Prices, Specifications and Mileage, which can be analyzed to identify Market Trends And Pricing Patterns.</a:t>
            </a:r>
          </a:p>
          <a:p>
            <a:r>
              <a:rPr lang="en-US" dirty="0">
                <a:latin typeface="Times New Roman" panose="02020603050405020304" pitchFamily="18" charset="0"/>
                <a:cs typeface="Times New Roman" panose="02020603050405020304" pitchFamily="18" charset="0"/>
              </a:rPr>
              <a:t>The Project Will Utilize Python And Libraries Like Beautiful soup And Pandas To Automate The Data Collection Process, Ensuring Efficiency And Accuracy.</a:t>
            </a:r>
          </a:p>
          <a:p>
            <a:r>
              <a:rPr lang="en-US" dirty="0">
                <a:latin typeface="Times New Roman" panose="02020603050405020304" pitchFamily="18" charset="0"/>
                <a:cs typeface="Times New Roman" panose="02020603050405020304" pitchFamily="18" charset="0"/>
              </a:rPr>
              <a:t>Ultimately, The Project Seeks To Enhance Transparency In The Used Car Market, Empowering Stakeholders To Align Their Decisions With Current Market Conditions And Expectations.</a:t>
            </a:r>
            <a:endParaRPr lang="en-IN" dirty="0">
              <a:latin typeface="Times New Roman" panose="02020603050405020304" pitchFamily="18" charset="0"/>
              <a:cs typeface="Times New Roman" panose="02020603050405020304" pitchFamily="18" charset="0"/>
            </a:endParaRPr>
          </a:p>
          <a:p>
            <a:endParaRPr lang="en-US" dirty="0"/>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1773366" y="19665"/>
            <a:ext cx="335239" cy="285136"/>
          </a:xfrm>
        </p:spPr>
        <p:txBody>
          <a:bodyPr/>
          <a:lstStyle/>
          <a:p>
            <a:r>
              <a:rPr lang="en-US" dirty="0"/>
              <a:t>4</a:t>
            </a:r>
          </a:p>
        </p:txBody>
      </p:sp>
    </p:spTree>
    <p:extLst>
      <p:ext uri="{BB962C8B-B14F-4D97-AF65-F5344CB8AC3E}">
        <p14:creationId xmlns:p14="http://schemas.microsoft.com/office/powerpoint/2010/main" val="685681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1453962" y="373104"/>
            <a:ext cx="5723586" cy="649451"/>
          </a:xfrm>
        </p:spPr>
        <p:txBody>
          <a:bodyPr/>
          <a:lstStyle/>
          <a:p>
            <a:r>
              <a:rPr lang="en-US" dirty="0">
                <a:latin typeface="Times New Roman" panose="02020603050405020304" pitchFamily="18" charset="0"/>
                <a:cs typeface="Times New Roman" panose="02020603050405020304" pitchFamily="18" charset="0"/>
              </a:rPr>
              <a:t>WEB SCRAPPING</a:t>
            </a:r>
            <a:endParaRPr lang="en-US" dirty="0"/>
          </a:p>
        </p:txBody>
      </p:sp>
      <p:sp>
        <p:nvSpPr>
          <p:cNvPr id="3" name="TextBox 2">
            <a:extLst>
              <a:ext uri="{FF2B5EF4-FFF2-40B4-BE49-F238E27FC236}">
                <a16:creationId xmlns:a16="http://schemas.microsoft.com/office/drawing/2014/main" id="{88C8AA85-A1E7-F395-32E8-DDDDE50FAC26}"/>
              </a:ext>
            </a:extLst>
          </p:cNvPr>
          <p:cNvSpPr txBox="1"/>
          <p:nvPr/>
        </p:nvSpPr>
        <p:spPr>
          <a:xfrm>
            <a:off x="275303" y="1779637"/>
            <a:ext cx="6902245" cy="3416320"/>
          </a:xfrm>
          <a:prstGeom prst="rect">
            <a:avLst/>
          </a:prstGeom>
          <a:noFill/>
        </p:spPr>
        <p:txBody>
          <a:bodyPr wrap="square" rtlCol="0">
            <a:spAutoFit/>
          </a:bodyPr>
          <a:lstStyle/>
          <a:p>
            <a:r>
              <a:rPr lang="en-US" dirty="0">
                <a:solidFill>
                  <a:schemeClr val="accent6">
                    <a:lumMod val="75000"/>
                  </a:schemeClr>
                </a:solidFill>
                <a:latin typeface="Times New Roman" panose="02020603050405020304" pitchFamily="18" charset="0"/>
                <a:cs typeface="Times New Roman" panose="02020603050405020304" pitchFamily="18" charset="0"/>
              </a:rPr>
              <a:t>Web Scraping is the process of Automatically Extracting Data from Websites. It involves fetching the content of a Web page and parsing it to retrieve specific information, which can be stored and analyzed.</a:t>
            </a:r>
          </a:p>
          <a:p>
            <a:r>
              <a:rPr lang="en-US" b="1" dirty="0">
                <a:solidFill>
                  <a:schemeClr val="accent6">
                    <a:lumMod val="75000"/>
                  </a:schemeClr>
                </a:solidFill>
                <a:latin typeface="Times New Roman" panose="02020603050405020304" pitchFamily="18" charset="0"/>
                <a:cs typeface="Times New Roman" panose="02020603050405020304" pitchFamily="18" charset="0"/>
              </a:rPr>
              <a:t>How It Works</a:t>
            </a:r>
            <a:r>
              <a:rPr lang="en-US" dirty="0">
                <a:solidFill>
                  <a:schemeClr val="accent6">
                    <a:lumMod val="75000"/>
                  </a:schemeClr>
                </a:solidFill>
                <a:latin typeface="Times New Roman" panose="02020603050405020304" pitchFamily="18" charset="0"/>
                <a:cs typeface="Times New Roman" panose="02020603050405020304" pitchFamily="18" charset="0"/>
              </a:rPr>
              <a:t>:</a:t>
            </a:r>
          </a:p>
          <a:p>
            <a:pPr lvl="1">
              <a:buFont typeface="+mj-lt"/>
              <a:buAutoNum type="arabicPeriod"/>
            </a:pPr>
            <a:r>
              <a:rPr lang="en-US" b="1" dirty="0">
                <a:solidFill>
                  <a:schemeClr val="accent6">
                    <a:lumMod val="75000"/>
                  </a:schemeClr>
                </a:solidFill>
                <a:latin typeface="Times New Roman" panose="02020603050405020304" pitchFamily="18" charset="0"/>
                <a:cs typeface="Times New Roman" panose="02020603050405020304" pitchFamily="18" charset="0"/>
              </a:rPr>
              <a:t>Fetching</a:t>
            </a:r>
            <a:r>
              <a:rPr lang="en-US" dirty="0">
                <a:solidFill>
                  <a:schemeClr val="accent6">
                    <a:lumMod val="75000"/>
                  </a:schemeClr>
                </a:solidFill>
                <a:latin typeface="Times New Roman" panose="02020603050405020304" pitchFamily="18" charset="0"/>
                <a:cs typeface="Times New Roman" panose="02020603050405020304" pitchFamily="18" charset="0"/>
              </a:rPr>
              <a:t>: A Web Scraper sends a request to a web server to retrieve the HTML content of a Web Page.</a:t>
            </a:r>
          </a:p>
          <a:p>
            <a:pPr lvl="1">
              <a:buFont typeface="+mj-lt"/>
              <a:buAutoNum type="arabicPeriod"/>
            </a:pPr>
            <a:r>
              <a:rPr lang="en-US" b="1" dirty="0">
                <a:solidFill>
                  <a:schemeClr val="accent6">
                    <a:lumMod val="75000"/>
                  </a:schemeClr>
                </a:solidFill>
                <a:latin typeface="Times New Roman" panose="02020603050405020304" pitchFamily="18" charset="0"/>
                <a:cs typeface="Times New Roman" panose="02020603050405020304" pitchFamily="18" charset="0"/>
              </a:rPr>
              <a:t>Parsing</a:t>
            </a:r>
            <a:r>
              <a:rPr lang="en-US" dirty="0">
                <a:solidFill>
                  <a:schemeClr val="accent6">
                    <a:lumMod val="75000"/>
                  </a:schemeClr>
                </a:solidFill>
                <a:latin typeface="Times New Roman" panose="02020603050405020304" pitchFamily="18" charset="0"/>
                <a:cs typeface="Times New Roman" panose="02020603050405020304" pitchFamily="18" charset="0"/>
              </a:rPr>
              <a:t>: The retrieved html is then parsed to locate and extract the desired data elements, such as text, images, or links.</a:t>
            </a:r>
          </a:p>
          <a:p>
            <a:pPr lvl="1">
              <a:buFont typeface="+mj-lt"/>
              <a:buAutoNum type="arabicPeriod"/>
            </a:pPr>
            <a:r>
              <a:rPr lang="en-US" b="1" dirty="0">
                <a:solidFill>
                  <a:schemeClr val="accent6">
                    <a:lumMod val="75000"/>
                  </a:schemeClr>
                </a:solidFill>
                <a:latin typeface="Times New Roman" panose="02020603050405020304" pitchFamily="18" charset="0"/>
                <a:cs typeface="Times New Roman" panose="02020603050405020304" pitchFamily="18" charset="0"/>
              </a:rPr>
              <a:t>Storing</a:t>
            </a:r>
            <a:r>
              <a:rPr lang="en-US" dirty="0">
                <a:solidFill>
                  <a:schemeClr val="accent6">
                    <a:lumMod val="75000"/>
                  </a:schemeClr>
                </a:solidFill>
                <a:latin typeface="Times New Roman" panose="02020603050405020304" pitchFamily="18" charset="0"/>
                <a:cs typeface="Times New Roman" panose="02020603050405020304" pitchFamily="18" charset="0"/>
              </a:rPr>
              <a:t>: The extracted data Is typically stored in a structured format, such as a csv file, database, or spreadsheet, for further analysis.</a:t>
            </a:r>
          </a:p>
          <a:p>
            <a:endParaRPr lang="en-IN" dirty="0"/>
          </a:p>
        </p:txBody>
      </p:sp>
      <p:pic>
        <p:nvPicPr>
          <p:cNvPr id="20" name="Picture Placeholder 19" descr="A diagram of a web scraping software">
            <a:extLst>
              <a:ext uri="{FF2B5EF4-FFF2-40B4-BE49-F238E27FC236}">
                <a16:creationId xmlns:a16="http://schemas.microsoft.com/office/drawing/2014/main" id="{DB3C476C-D2E1-DA10-9958-725153D2832A}"/>
              </a:ext>
            </a:extLst>
          </p:cNvPr>
          <p:cNvPicPr>
            <a:picLocks noGrp="1" noChangeAspect="1"/>
          </p:cNvPicPr>
          <p:nvPr>
            <p:ph type="pic" sz="quarter" idx="11"/>
          </p:nvPr>
        </p:nvPicPr>
        <p:blipFill>
          <a:blip r:embed="rId3"/>
          <a:stretch>
            <a:fillRect/>
          </a:stretch>
        </p:blipFill>
        <p:spPr>
          <a:xfrm>
            <a:off x="7177548" y="1671483"/>
            <a:ext cx="5023556" cy="2625213"/>
          </a:xfrm>
          <a:prstGeom prst="rect">
            <a:avLst/>
          </a:prstGeom>
        </p:spPr>
      </p:pic>
    </p:spTree>
    <p:extLst>
      <p:ext uri="{BB962C8B-B14F-4D97-AF65-F5344CB8AC3E}">
        <p14:creationId xmlns:p14="http://schemas.microsoft.com/office/powerpoint/2010/main" val="2906491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4364809" y="727587"/>
            <a:ext cx="7043617" cy="570271"/>
          </a:xfrm>
        </p:spPr>
        <p:txBody>
          <a:bodyPr/>
          <a:lstStyle/>
          <a:p>
            <a:r>
              <a:rPr lang="en-US" dirty="0">
                <a:latin typeface="Times New Roman" panose="02020603050405020304" pitchFamily="18" charset="0"/>
                <a:cs typeface="Times New Roman" panose="02020603050405020304" pitchFamily="18" charset="0"/>
              </a:rPr>
              <a:t>               TOOLS USED</a:t>
            </a:r>
            <a:endParaRPr lang="en-US" dirty="0"/>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1125790" y="4456"/>
            <a:ext cx="987552" cy="471489"/>
          </a:xfrm>
        </p:spPr>
        <p:txBody>
          <a:bodyPr/>
          <a:lstStyle/>
          <a:p>
            <a:r>
              <a:rPr lang="en-US" dirty="0"/>
              <a:t>6</a:t>
            </a:r>
          </a:p>
        </p:txBody>
      </p:sp>
      <p:sp>
        <p:nvSpPr>
          <p:cNvPr id="4" name="Content Placeholder 3">
            <a:extLst>
              <a:ext uri="{FF2B5EF4-FFF2-40B4-BE49-F238E27FC236}">
                <a16:creationId xmlns:a16="http://schemas.microsoft.com/office/drawing/2014/main" id="{BDDD6BDC-E008-6AB7-55A1-46ED9BCF054F}"/>
              </a:ext>
            </a:extLst>
          </p:cNvPr>
          <p:cNvSpPr>
            <a:spLocks noGrp="1"/>
          </p:cNvSpPr>
          <p:nvPr>
            <p:ph idx="11"/>
          </p:nvPr>
        </p:nvSpPr>
        <p:spPr>
          <a:xfrm>
            <a:off x="4364808" y="1568246"/>
            <a:ext cx="7043618" cy="4473737"/>
          </a:xfrm>
        </p:spPr>
        <p:txBody>
          <a:bodyPr/>
          <a:lstStyle/>
          <a:p>
            <a:r>
              <a:rPr lang="en-US" dirty="0">
                <a:latin typeface="Times New Roman" panose="02020603050405020304" pitchFamily="18" charset="0"/>
                <a:cs typeface="Times New Roman" panose="02020603050405020304" pitchFamily="18" charset="0"/>
              </a:rPr>
              <a:t>Software Requirement:-</a:t>
            </a:r>
          </a:p>
          <a:p>
            <a:r>
              <a:rPr lang="en-US" dirty="0">
                <a:latin typeface="Times New Roman" panose="02020603050405020304" pitchFamily="18" charset="0"/>
                <a:cs typeface="Times New Roman" panose="02020603050405020304" pitchFamily="18" charset="0"/>
                <a:sym typeface="Wingdings" panose="05000000000000000000" pitchFamily="2" charset="2"/>
              </a:rPr>
              <a:t> </a:t>
            </a:r>
            <a:r>
              <a:rPr lang="en-US" dirty="0">
                <a:latin typeface="Times New Roman" panose="02020603050405020304" pitchFamily="18" charset="0"/>
                <a:cs typeface="Times New Roman" panose="02020603050405020304" pitchFamily="18" charset="0"/>
              </a:rPr>
              <a:t>Python(</a:t>
            </a:r>
            <a:r>
              <a:rPr lang="en-US" dirty="0" err="1">
                <a:latin typeface="Times New Roman" panose="02020603050405020304" pitchFamily="18" charset="0"/>
                <a:cs typeface="Times New Roman" panose="02020603050405020304" pitchFamily="18" charset="0"/>
              </a:rPr>
              <a:t>Jupyter</a:t>
            </a:r>
            <a:r>
              <a:rPr lang="en-US" dirty="0">
                <a:latin typeface="Times New Roman" panose="02020603050405020304" pitchFamily="18" charset="0"/>
                <a:cs typeface="Times New Roman" panose="02020603050405020304" pitchFamily="18" charset="0"/>
              </a:rPr>
              <a:t> notebook)</a:t>
            </a:r>
          </a:p>
          <a:p>
            <a:r>
              <a:rPr lang="en-US" dirty="0">
                <a:latin typeface="Times New Roman" panose="02020603050405020304" pitchFamily="18" charset="0"/>
                <a:cs typeface="Times New Roman" panose="02020603050405020304" pitchFamily="18" charset="0"/>
                <a:sym typeface="Wingdings" panose="05000000000000000000" pitchFamily="2" charset="2"/>
              </a:rPr>
              <a:t> </a:t>
            </a:r>
            <a:r>
              <a:rPr lang="en-US" dirty="0" err="1">
                <a:latin typeface="Times New Roman" panose="02020603050405020304" pitchFamily="18" charset="0"/>
                <a:cs typeface="Times New Roman" panose="02020603050405020304" pitchFamily="18" charset="0"/>
              </a:rPr>
              <a:t>Powerbi</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sym typeface="Wingdings" panose="05000000000000000000" pitchFamily="2" charset="2"/>
              </a:rPr>
              <a:t> </a:t>
            </a:r>
            <a:r>
              <a:rPr lang="en-US" dirty="0">
                <a:latin typeface="Times New Roman" panose="02020603050405020304" pitchFamily="18" charset="0"/>
                <a:cs typeface="Times New Roman" panose="02020603050405020304" pitchFamily="18" charset="0"/>
              </a:rPr>
              <a:t>Excel</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Main Software Libraries:-</a:t>
            </a:r>
          </a:p>
          <a:p>
            <a:r>
              <a:rPr lang="en-US" dirty="0">
                <a:latin typeface="Times New Roman" panose="02020603050405020304" pitchFamily="18" charset="0"/>
                <a:cs typeface="Times New Roman" panose="02020603050405020304" pitchFamily="18" charset="0"/>
                <a:sym typeface="Wingdings" panose="05000000000000000000" pitchFamily="2" charset="2"/>
              </a:rPr>
              <a:t> </a:t>
            </a:r>
            <a:r>
              <a:rPr lang="en-US" dirty="0">
                <a:latin typeface="Times New Roman" panose="02020603050405020304" pitchFamily="18" charset="0"/>
                <a:cs typeface="Times New Roman" panose="02020603050405020304" pitchFamily="18" charset="0"/>
              </a:rPr>
              <a:t>Pandas</a:t>
            </a:r>
          </a:p>
          <a:p>
            <a:r>
              <a:rPr lang="en-US" dirty="0">
                <a:latin typeface="Times New Roman" panose="02020603050405020304" pitchFamily="18" charset="0"/>
                <a:cs typeface="Times New Roman" panose="02020603050405020304" pitchFamily="18" charset="0"/>
                <a:sym typeface="Wingdings" panose="05000000000000000000" pitchFamily="2" charset="2"/>
              </a:rPr>
              <a:t> </a:t>
            </a:r>
            <a:r>
              <a:rPr lang="en-US" dirty="0" err="1">
                <a:latin typeface="Times New Roman" panose="02020603050405020304" pitchFamily="18" charset="0"/>
                <a:cs typeface="Times New Roman" panose="02020603050405020304" pitchFamily="18" charset="0"/>
              </a:rPr>
              <a:t>Numpy</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sym typeface="Wingdings" panose="05000000000000000000" pitchFamily="2" charset="2"/>
              </a:rPr>
              <a:t> </a:t>
            </a:r>
            <a:r>
              <a:rPr lang="en-US" dirty="0">
                <a:latin typeface="Times New Roman" panose="02020603050405020304" pitchFamily="18" charset="0"/>
                <a:cs typeface="Times New Roman" panose="02020603050405020304" pitchFamily="18" charset="0"/>
              </a:rPr>
              <a:t>Beautiful Soups</a:t>
            </a:r>
          </a:p>
          <a:p>
            <a:r>
              <a:rPr lang="en-US" dirty="0">
                <a:latin typeface="Times New Roman" panose="02020603050405020304" pitchFamily="18" charset="0"/>
                <a:cs typeface="Times New Roman" panose="02020603050405020304" pitchFamily="18" charset="0"/>
                <a:sym typeface="Wingdings" panose="05000000000000000000" pitchFamily="2" charset="2"/>
              </a:rPr>
              <a:t> </a:t>
            </a:r>
            <a:r>
              <a:rPr lang="en-US" dirty="0">
                <a:latin typeface="Times New Roman" panose="02020603050405020304" pitchFamily="18" charset="0"/>
                <a:cs typeface="Times New Roman" panose="02020603050405020304" pitchFamily="18" charset="0"/>
              </a:rPr>
              <a:t>Requests</a:t>
            </a:r>
          </a:p>
          <a:p>
            <a:r>
              <a:rPr lang="en-US" dirty="0">
                <a:latin typeface="Times New Roman" panose="02020603050405020304" pitchFamily="18" charset="0"/>
                <a:cs typeface="Times New Roman" panose="02020603050405020304" pitchFamily="18" charset="0"/>
                <a:sym typeface="Wingdings" panose="05000000000000000000" pitchFamily="2" charset="2"/>
              </a:rPr>
              <a:t> </a:t>
            </a:r>
            <a:r>
              <a:rPr lang="en-US" dirty="0">
                <a:latin typeface="Times New Roman" panose="02020603050405020304" pitchFamily="18" charset="0"/>
                <a:cs typeface="Times New Roman" panose="02020603050405020304" pitchFamily="18" charset="0"/>
              </a:rPr>
              <a:t>CSV</a:t>
            </a:r>
            <a:endParaRPr lang="en-IN"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131718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2159851" y="346371"/>
            <a:ext cx="7796464" cy="600875"/>
          </a:xfrm>
        </p:spPr>
        <p:txBody>
          <a:bodyPr/>
          <a:lstStyle/>
          <a:p>
            <a:r>
              <a:rPr lang="en-IN" dirty="0">
                <a:latin typeface="Times New Roman" panose="02020603050405020304" pitchFamily="18" charset="0"/>
                <a:cs typeface="Times New Roman" panose="02020603050405020304" pitchFamily="18" charset="0"/>
              </a:rPr>
              <a:t>             DASHBOARD’S</a:t>
            </a:r>
            <a:endParaRPr lang="en-US" dirty="0"/>
          </a:p>
        </p:txBody>
      </p:sp>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57199"/>
            <a:ext cx="987552" cy="471489"/>
          </a:xfrm>
        </p:spPr>
        <p:txBody>
          <a:bodyPr/>
          <a:lstStyle/>
          <a:p>
            <a:r>
              <a:rPr lang="en-US" dirty="0"/>
              <a:t>7</a:t>
            </a:r>
          </a:p>
        </p:txBody>
      </p:sp>
      <p:sp>
        <p:nvSpPr>
          <p:cNvPr id="16" name="Content Placeholder 4">
            <a:extLst>
              <a:ext uri="{FF2B5EF4-FFF2-40B4-BE49-F238E27FC236}">
                <a16:creationId xmlns:a16="http://schemas.microsoft.com/office/drawing/2014/main" id="{AEF9954A-E263-8A7E-58B1-4D03F7D1BD9B}"/>
              </a:ext>
            </a:extLst>
          </p:cNvPr>
          <p:cNvSpPr>
            <a:spLocks noGrp="1"/>
          </p:cNvSpPr>
          <p:nvPr>
            <p:ph sz="half" idx="2"/>
          </p:nvPr>
        </p:nvSpPr>
        <p:spPr>
          <a:xfrm>
            <a:off x="914400" y="2303028"/>
            <a:ext cx="3283119" cy="3720337"/>
          </a:xfrm>
        </p:spPr>
        <p:txBody>
          <a:bodyPr>
            <a:normAutofit/>
          </a:bodyPr>
          <a:lstStyle/>
          <a:p>
            <a:r>
              <a:rPr lang="en-US" dirty="0"/>
              <a:t>This is a powerful tool in public speaking. It involves varying pitch, tone, and volume to convey emotion, emphasize points, and maintain interest. </a:t>
            </a:r>
          </a:p>
          <a:p>
            <a:pPr lvl="1"/>
            <a:r>
              <a:rPr lang="en-US" dirty="0"/>
              <a:t>Pitch variation</a:t>
            </a:r>
          </a:p>
          <a:p>
            <a:pPr lvl="1"/>
            <a:r>
              <a:rPr lang="en-US" dirty="0"/>
              <a:t>Tone inflection</a:t>
            </a:r>
          </a:p>
          <a:p>
            <a:pPr lvl="1"/>
            <a:r>
              <a:rPr lang="en-US" dirty="0"/>
              <a:t>Volume control</a:t>
            </a:r>
          </a:p>
        </p:txBody>
      </p:sp>
      <p:pic>
        <p:nvPicPr>
          <p:cNvPr id="12" name="Content Placeholder 11" descr="A screenshot of a computer">
            <a:extLst>
              <a:ext uri="{FF2B5EF4-FFF2-40B4-BE49-F238E27FC236}">
                <a16:creationId xmlns:a16="http://schemas.microsoft.com/office/drawing/2014/main" id="{315AD0E2-2EA4-1318-57CA-32ECFEA7E791}"/>
              </a:ext>
            </a:extLst>
          </p:cNvPr>
          <p:cNvPicPr>
            <a:picLocks noGrp="1" noChangeAspect="1"/>
          </p:cNvPicPr>
          <p:nvPr>
            <p:ph sz="quarter" idx="4"/>
          </p:nvPr>
        </p:nvPicPr>
        <p:blipFill>
          <a:blip r:embed="rId3"/>
          <a:stretch>
            <a:fillRect/>
          </a:stretch>
        </p:blipFill>
        <p:spPr>
          <a:xfrm>
            <a:off x="699502" y="928689"/>
            <a:ext cx="10717162" cy="5929312"/>
          </a:xfrm>
        </p:spPr>
      </p:pic>
    </p:spTree>
    <p:extLst>
      <p:ext uri="{BB962C8B-B14F-4D97-AF65-F5344CB8AC3E}">
        <p14:creationId xmlns:p14="http://schemas.microsoft.com/office/powerpoint/2010/main" val="2468595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914400" y="965393"/>
            <a:ext cx="7631709" cy="1091627"/>
          </a:xfrm>
        </p:spPr>
        <p:txBody>
          <a:bodyPr/>
          <a:lstStyle/>
          <a:p>
            <a:r>
              <a:rPr lang="en-US" dirty="0"/>
              <a:t>Navigating Q&amp;A </a:t>
            </a:r>
            <a:br>
              <a:rPr lang="en-US" dirty="0"/>
            </a:br>
            <a:r>
              <a:rPr lang="en-US" dirty="0"/>
              <a:t>sessions</a:t>
            </a:r>
          </a:p>
        </p:txBody>
      </p:sp>
      <p:sp>
        <p:nvSpPr>
          <p:cNvPr id="14" name="Content Placeholder 7">
            <a:extLst>
              <a:ext uri="{FF2B5EF4-FFF2-40B4-BE49-F238E27FC236}">
                <a16:creationId xmlns:a16="http://schemas.microsoft.com/office/drawing/2014/main" id="{749C7CD1-A9AA-49E3-6734-AD9546F2DF5B}"/>
              </a:ext>
            </a:extLst>
          </p:cNvPr>
          <p:cNvSpPr>
            <a:spLocks noGrp="1"/>
          </p:cNvSpPr>
          <p:nvPr>
            <p:ph sz="half" idx="15"/>
          </p:nvPr>
        </p:nvSpPr>
        <p:spPr>
          <a:xfrm>
            <a:off x="914400" y="2303463"/>
            <a:ext cx="3282950" cy="4143375"/>
          </a:xfrm>
        </p:spPr>
        <p:txBody>
          <a:bodyPr>
            <a:normAutofit/>
          </a:bodyPr>
          <a:lstStyle/>
          <a:p>
            <a:r>
              <a:rPr lang="en-US" dirty="0"/>
              <a:t>Maintaining composure during the Q&amp;A session is essential for projecting confidence and authority. Consider the following tips for staying composed:</a:t>
            </a:r>
          </a:p>
          <a:p>
            <a:r>
              <a:rPr lang="en-US" dirty="0"/>
              <a:t>Stay calm</a:t>
            </a:r>
          </a:p>
          <a:p>
            <a:r>
              <a:rPr lang="en-US" dirty="0"/>
              <a:t>Actively listen</a:t>
            </a:r>
          </a:p>
          <a:p>
            <a:r>
              <a:rPr lang="en-US" dirty="0"/>
              <a:t>Pause and reflect</a:t>
            </a:r>
          </a:p>
          <a:p>
            <a:r>
              <a:rPr lang="en-US" dirty="0"/>
              <a:t>Maintain eye contact</a:t>
            </a:r>
          </a:p>
        </p:txBody>
      </p:sp>
      <p:sp>
        <p:nvSpPr>
          <p:cNvPr id="13" name="Content Placeholder 5">
            <a:extLst>
              <a:ext uri="{FF2B5EF4-FFF2-40B4-BE49-F238E27FC236}">
                <a16:creationId xmlns:a16="http://schemas.microsoft.com/office/drawing/2014/main" id="{58AC0C8B-8A7A-9FAE-2D0F-4D1C3A8C3FA5}"/>
              </a:ext>
            </a:extLst>
          </p:cNvPr>
          <p:cNvSpPr>
            <a:spLocks noGrp="1"/>
          </p:cNvSpPr>
          <p:nvPr>
            <p:ph sz="half" idx="1"/>
          </p:nvPr>
        </p:nvSpPr>
        <p:spPr>
          <a:xfrm>
            <a:off x="4781550" y="2303463"/>
            <a:ext cx="3763963" cy="4143375"/>
          </a:xfrm>
        </p:spPr>
        <p:txBody>
          <a:bodyPr/>
          <a:lstStyle/>
          <a:p>
            <a:r>
              <a:rPr lang="en-US" dirty="0"/>
              <a:t>Know your material in advance</a:t>
            </a:r>
          </a:p>
          <a:p>
            <a:r>
              <a:rPr lang="en-US" dirty="0"/>
              <a:t>Anticipate common questions</a:t>
            </a:r>
          </a:p>
          <a:p>
            <a:r>
              <a:rPr lang="en-US" dirty="0"/>
              <a:t>Rehearse your responses</a:t>
            </a:r>
          </a:p>
        </p:txBody>
      </p:sp>
      <p:pic>
        <p:nvPicPr>
          <p:cNvPr id="10" name="Picture Placeholder 9" descr="A person wearing a blue suit and headphones pointing at a computer">
            <a:extLst>
              <a:ext uri="{FF2B5EF4-FFF2-40B4-BE49-F238E27FC236}">
                <a16:creationId xmlns:a16="http://schemas.microsoft.com/office/drawing/2014/main" id="{DD0A0899-5B02-CEB5-E5DD-448B169C2377}"/>
              </a:ext>
            </a:extLst>
          </p:cNvPr>
          <p:cNvPicPr>
            <a:picLocks noGrp="1" noChangeAspect="1"/>
          </p:cNvPicPr>
          <p:nvPr>
            <p:ph type="pic" sz="quarter" idx="14"/>
          </p:nvPr>
        </p:nvPicPr>
        <p:blipFill rotWithShape="1">
          <a:blip r:embed="rId3">
            <a:duotone>
              <a:prstClr val="black"/>
              <a:schemeClr val="accent1">
                <a:tint val="45000"/>
                <a:satMod val="400000"/>
              </a:schemeClr>
            </a:duotone>
          </a:blip>
          <a:srcRect l="31888" r="31888"/>
          <a:stretch/>
        </p:blipFill>
        <p:spPr>
          <a:xfrm>
            <a:off x="8989454" y="965393"/>
            <a:ext cx="3202545" cy="5892607"/>
          </a:xfrm>
        </p:spPr>
      </p:pic>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8</a:t>
            </a:fld>
            <a:endParaRPr lang="en-US" dirty="0"/>
          </a:p>
        </p:txBody>
      </p:sp>
      <p:pic>
        <p:nvPicPr>
          <p:cNvPr id="5" name="Picture 4" descr="A screenshot of a computer">
            <a:extLst>
              <a:ext uri="{FF2B5EF4-FFF2-40B4-BE49-F238E27FC236}">
                <a16:creationId xmlns:a16="http://schemas.microsoft.com/office/drawing/2014/main" id="{3ABC3321-2C58-DF6B-EC59-948E2973BFE6}"/>
              </a:ext>
            </a:extLst>
          </p:cNvPr>
          <p:cNvPicPr>
            <a:picLocks noChangeAspect="1"/>
          </p:cNvPicPr>
          <p:nvPr/>
        </p:nvPicPr>
        <p:blipFill>
          <a:blip r:embed="rId4"/>
          <a:stretch>
            <a:fillRect/>
          </a:stretch>
        </p:blipFill>
        <p:spPr>
          <a:xfrm>
            <a:off x="619432" y="362778"/>
            <a:ext cx="11464413" cy="6380164"/>
          </a:xfrm>
          <a:prstGeom prst="rect">
            <a:avLst/>
          </a:prstGeom>
        </p:spPr>
      </p:pic>
    </p:spTree>
    <p:extLst>
      <p:ext uri="{BB962C8B-B14F-4D97-AF65-F5344CB8AC3E}">
        <p14:creationId xmlns:p14="http://schemas.microsoft.com/office/powerpoint/2010/main" val="1941619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2982776" y="-233296"/>
            <a:ext cx="7843837" cy="690495"/>
          </a:xfrm>
        </p:spPr>
        <p:txBody>
          <a:bodyPr/>
          <a:lstStyle/>
          <a:p>
            <a:r>
              <a:rPr lang="en-US" dirty="0">
                <a:latin typeface="Times New Roman" panose="02020603050405020304" pitchFamily="18" charset="0"/>
                <a:cs typeface="Times New Roman" panose="02020603050405020304" pitchFamily="18" charset="0"/>
              </a:rPr>
              <a:t>KEY INSIGHTS</a:t>
            </a:r>
            <a:endParaRPr lang="en-US" dirty="0"/>
          </a:p>
        </p:txBody>
      </p:sp>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9</a:t>
            </a:fld>
            <a:endParaRPr lang="en-US" dirty="0"/>
          </a:p>
        </p:txBody>
      </p:sp>
      <p:sp>
        <p:nvSpPr>
          <p:cNvPr id="9" name="Rectangle 2">
            <a:extLst>
              <a:ext uri="{FF2B5EF4-FFF2-40B4-BE49-F238E27FC236}">
                <a16:creationId xmlns:a16="http://schemas.microsoft.com/office/drawing/2014/main" id="{53EBA1E6-FB18-CF68-07C0-2CD4782305DE}"/>
              </a:ext>
            </a:extLst>
          </p:cNvPr>
          <p:cNvSpPr>
            <a:spLocks noGrp="1" noChangeArrowheads="1"/>
          </p:cNvSpPr>
          <p:nvPr>
            <p:ph idx="13"/>
          </p:nvPr>
        </p:nvSpPr>
        <p:spPr bwMode="auto">
          <a:xfrm>
            <a:off x="1130710" y="642151"/>
            <a:ext cx="9075173"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600" dirty="0"/>
              <a:t> </a:t>
            </a:r>
            <a:r>
              <a:rPr lang="en-US" sz="1600" b="1" dirty="0"/>
              <a:t>Pricing Overview:</a:t>
            </a:r>
          </a:p>
          <a:p>
            <a:r>
              <a:rPr lang="en-US" sz="1600" dirty="0"/>
              <a:t>Average Price: ₹1.82 Million</a:t>
            </a:r>
          </a:p>
          <a:p>
            <a:r>
              <a:rPr lang="en-US" sz="1600" dirty="0"/>
              <a:t>Minimum Price: ₹75,000</a:t>
            </a:r>
          </a:p>
          <a:p>
            <a:r>
              <a:rPr lang="en-US" sz="1600" dirty="0"/>
              <a:t>Maximum Price: ₹2.1 Crores</a:t>
            </a:r>
          </a:p>
          <a:p>
            <a:endParaRPr lang="en-US" sz="1600" dirty="0"/>
          </a:p>
          <a:p>
            <a:r>
              <a:rPr lang="en-US" sz="1600" b="1" dirty="0"/>
              <a:t>Brand Distribution:</a:t>
            </a:r>
          </a:p>
          <a:p>
            <a:r>
              <a:rPr lang="en-US" sz="1600" dirty="0"/>
              <a:t>Maruti leads the listing count, followed closely by Kia, Hyundai, and Tata, underscoring Maruti’s strong resale presence and widespread affordability.</a:t>
            </a:r>
          </a:p>
          <a:p>
            <a:r>
              <a:rPr lang="en-US" sz="1600" dirty="0"/>
              <a:t>Luxury brands such as BMW, Jaguar, and Land Rover contribute significantly to cumulative pricing value, especially in recent-year listings.</a:t>
            </a:r>
          </a:p>
          <a:p>
            <a:endParaRPr lang="en-US" sz="1600" dirty="0"/>
          </a:p>
          <a:p>
            <a:r>
              <a:rPr lang="en-US" sz="1600" b="1" dirty="0"/>
              <a:t>Fuel Type Breakdown (Donut Chart):</a:t>
            </a:r>
          </a:p>
          <a:p>
            <a:r>
              <a:rPr lang="en-US" sz="1600" dirty="0"/>
              <a:t>Petrol vehicles account for the  majority of listings, confirming their continued dominance in the Indian market.</a:t>
            </a:r>
          </a:p>
          <a:p>
            <a:r>
              <a:rPr lang="en-US" sz="1600" dirty="0"/>
              <a:t>Diesel vehicles maintain a strong presence, particularly among larger SUVs and multi-state inventories.</a:t>
            </a:r>
          </a:p>
          <a:p>
            <a:r>
              <a:rPr lang="en-US" sz="1600" dirty="0"/>
              <a:t>Electric and CNG models, while fewer in number, show rising interest—indicating early adoption of greener mobility options.</a:t>
            </a:r>
          </a:p>
          <a:p>
            <a:endParaRPr lang="en-US" sz="1600" dirty="0"/>
          </a:p>
          <a:p>
            <a:r>
              <a:rPr lang="en-US" sz="1600" b="1" dirty="0"/>
              <a:t>Transmission Split (Pie Chart):</a:t>
            </a:r>
          </a:p>
          <a:p>
            <a:r>
              <a:rPr lang="en-US" sz="1600" dirty="0"/>
              <a:t>Manual transmission vehicles are more prevalent overall, reflecting affordability and fuel efficiency preferences.</a:t>
            </a:r>
          </a:p>
          <a:p>
            <a:r>
              <a:rPr lang="en-US" sz="1600" dirty="0"/>
              <a:t>However, Automatic transmission cars—especially in recent-year entries—command higher average prices and show growing traction among premium urban buyers.</a:t>
            </a:r>
          </a:p>
          <a:p>
            <a:r>
              <a:rPr lang="en-US" sz="1600" dirty="0"/>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4" name="Rectangle 1">
            <a:extLst>
              <a:ext uri="{FF2B5EF4-FFF2-40B4-BE49-F238E27FC236}">
                <a16:creationId xmlns:a16="http://schemas.microsoft.com/office/drawing/2014/main" id="{BC7A79FF-E860-88B3-CC82-95CFD396BDF8}"/>
              </a:ext>
            </a:extLst>
          </p:cNvPr>
          <p:cNvSpPr>
            <a:spLocks noChangeArrowheads="1"/>
          </p:cNvSpPr>
          <p:nvPr/>
        </p:nvSpPr>
        <p:spPr bwMode="auto">
          <a:xfrm>
            <a:off x="0" y="-94566"/>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72101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dirty="0"/>
              <a:t>Thank </a:t>
            </a:r>
            <a:br>
              <a:rPr lang="en-US" dirty="0"/>
            </a:br>
            <a:r>
              <a:rPr lang="en-US" dirty="0"/>
              <a:t>you</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914401" y="3813606"/>
            <a:ext cx="5715000" cy="2234642"/>
          </a:xfrm>
        </p:spPr>
        <p:txBody>
          <a:bodyPr/>
          <a:lstStyle/>
          <a:p>
            <a:r>
              <a:rPr lang="en-US" dirty="0"/>
              <a:t>.</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2.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{FA85E304-404E-454D-882C-15B98CEED712}tf78438558_win32</Template>
  <TotalTime>176</TotalTime>
  <Words>751</Words>
  <Application>Microsoft Office PowerPoint</Application>
  <PresentationFormat>Widescreen</PresentationFormat>
  <Paragraphs>75</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Arial Black</vt:lpstr>
      <vt:lpstr>Calibri</vt:lpstr>
      <vt:lpstr>Sabon Next LT</vt:lpstr>
      <vt:lpstr>Times New Roman</vt:lpstr>
      <vt:lpstr>Wingdings</vt:lpstr>
      <vt:lpstr>Custom</vt:lpstr>
      <vt:lpstr>USED CARS PRICE ANALYSIS</vt:lpstr>
      <vt:lpstr>         PROJECT OBJECTIVE</vt:lpstr>
      <vt:lpstr>MAIN AGENDA</vt:lpstr>
      <vt:lpstr>           INTRODUCTION</vt:lpstr>
      <vt:lpstr>WEB SCRAPPING</vt:lpstr>
      <vt:lpstr>               TOOLS USED</vt:lpstr>
      <vt:lpstr>             DASHBOARD’S</vt:lpstr>
      <vt:lpstr>Navigating Q&amp;A  sessions</vt:lpstr>
      <vt:lpstr>KEY INSIGHTS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juweriya md</dc:creator>
  <cp:lastModifiedBy>juweriya md</cp:lastModifiedBy>
  <cp:revision>9</cp:revision>
  <dcterms:created xsi:type="dcterms:W3CDTF">2025-07-16T03:13:47Z</dcterms:created>
  <dcterms:modified xsi:type="dcterms:W3CDTF">2025-07-17T02:53:20Z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