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58" r:id="rId4"/>
    <p:sldId id="259" r:id="rId5"/>
    <p:sldId id="264" r:id="rId6"/>
    <p:sldId id="265" r:id="rId7"/>
    <p:sldId id="266" r:id="rId8"/>
    <p:sldId id="267" r:id="rId9"/>
    <p:sldId id="268" r:id="rId10"/>
    <p:sldId id="269" r:id="rId11"/>
    <p:sldId id="260" r:id="rId12"/>
    <p:sldId id="261" r:id="rId13"/>
    <p:sldId id="262" r:id="rId14"/>
    <p:sldId id="26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86"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978B68-6B82-4BAA-B795-BEF67CA0B560}"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E2EA497-C622-492E-85F1-3E2FE3CBBD6E}">
      <dgm:prSet custT="1"/>
      <dgm:spPr/>
      <dgm:t>
        <a:bodyPr/>
        <a:lstStyle/>
        <a:p>
          <a:r>
            <a:rPr lang="en-US" sz="1600" b="1" i="0" baseline="0" dirty="0"/>
            <a:t>Data Integration</a:t>
          </a:r>
          <a:r>
            <a:rPr lang="en-US" sz="1600" b="0" i="0" baseline="0" dirty="0"/>
            <a:t> – Sales, Customers, Products, Stores, and Returns</a:t>
          </a:r>
          <a:r>
            <a:rPr lang="en-US" sz="1400" b="0" i="0" baseline="0" dirty="0"/>
            <a:t>.</a:t>
          </a:r>
          <a:endParaRPr lang="en-US" sz="1400" dirty="0"/>
        </a:p>
      </dgm:t>
    </dgm:pt>
    <dgm:pt modelId="{F79F78AD-5118-458E-AEAA-D4DC2EE6284E}" type="parTrans" cxnId="{EE1AC5FB-B575-45BF-8D81-3CB0F4339840}">
      <dgm:prSet/>
      <dgm:spPr/>
      <dgm:t>
        <a:bodyPr/>
        <a:lstStyle/>
        <a:p>
          <a:endParaRPr lang="en-US"/>
        </a:p>
      </dgm:t>
    </dgm:pt>
    <dgm:pt modelId="{2D20A11C-608B-4BEB-8E6F-3D0A65247885}" type="sibTrans" cxnId="{EE1AC5FB-B575-45BF-8D81-3CB0F4339840}">
      <dgm:prSet/>
      <dgm:spPr/>
      <dgm:t>
        <a:bodyPr/>
        <a:lstStyle/>
        <a:p>
          <a:endParaRPr lang="en-US"/>
        </a:p>
      </dgm:t>
    </dgm:pt>
    <dgm:pt modelId="{7447F790-12B4-4B88-9798-AF0CDC3511F4}">
      <dgm:prSet custT="1"/>
      <dgm:spPr/>
      <dgm:t>
        <a:bodyPr/>
        <a:lstStyle/>
        <a:p>
          <a:r>
            <a:rPr lang="en-US" sz="1600" b="1" i="0" baseline="0" dirty="0"/>
            <a:t>Data Cleaning &amp; Manipulation</a:t>
          </a:r>
          <a:r>
            <a:rPr lang="en-US" sz="1600" b="0" i="0" baseline="0" dirty="0"/>
            <a:t> – Remove duplicates, fix missing values, standardize formats.</a:t>
          </a:r>
          <a:endParaRPr lang="en-US" sz="1600" dirty="0"/>
        </a:p>
      </dgm:t>
    </dgm:pt>
    <dgm:pt modelId="{6E29904A-5246-4E9C-94B7-ADA5F7B51793}" type="parTrans" cxnId="{9276CFCF-5478-4C50-91C1-C0AE42586CE1}">
      <dgm:prSet/>
      <dgm:spPr/>
      <dgm:t>
        <a:bodyPr/>
        <a:lstStyle/>
        <a:p>
          <a:endParaRPr lang="en-US"/>
        </a:p>
      </dgm:t>
    </dgm:pt>
    <dgm:pt modelId="{764EFE4A-1978-4A39-B053-4B3B91EED619}" type="sibTrans" cxnId="{9276CFCF-5478-4C50-91C1-C0AE42586CE1}">
      <dgm:prSet/>
      <dgm:spPr/>
      <dgm:t>
        <a:bodyPr/>
        <a:lstStyle/>
        <a:p>
          <a:endParaRPr lang="en-US"/>
        </a:p>
      </dgm:t>
    </dgm:pt>
    <dgm:pt modelId="{31C63CE6-9453-43CB-9DB9-83D8FE71F86E}">
      <dgm:prSet custT="1"/>
      <dgm:spPr/>
      <dgm:t>
        <a:bodyPr/>
        <a:lstStyle/>
        <a:p>
          <a:r>
            <a:rPr lang="en-US" sz="1600" b="1" i="0" baseline="0" dirty="0"/>
            <a:t>SQL Analysis</a:t>
          </a:r>
          <a:r>
            <a:rPr lang="en-US" sz="1600" b="0" i="0" baseline="0" dirty="0"/>
            <a:t> – Extract profit, customer trends, and returns.</a:t>
          </a:r>
          <a:endParaRPr lang="en-US" sz="1600" dirty="0"/>
        </a:p>
      </dgm:t>
    </dgm:pt>
    <dgm:pt modelId="{702EFD6B-E7E4-4D6D-B7EC-594DA993AC86}" type="parTrans" cxnId="{E6E82871-7C52-4AF6-B5A1-8378AA20AE7A}">
      <dgm:prSet/>
      <dgm:spPr/>
      <dgm:t>
        <a:bodyPr/>
        <a:lstStyle/>
        <a:p>
          <a:endParaRPr lang="en-US"/>
        </a:p>
      </dgm:t>
    </dgm:pt>
    <dgm:pt modelId="{90C05C55-F805-47C1-B9EC-D666FB7591D6}" type="sibTrans" cxnId="{E6E82871-7C52-4AF6-B5A1-8378AA20AE7A}">
      <dgm:prSet/>
      <dgm:spPr/>
      <dgm:t>
        <a:bodyPr/>
        <a:lstStyle/>
        <a:p>
          <a:endParaRPr lang="en-US"/>
        </a:p>
      </dgm:t>
    </dgm:pt>
    <dgm:pt modelId="{BF33929E-B3A7-4089-9B65-6D78E8932243}">
      <dgm:prSet custT="1"/>
      <dgm:spPr/>
      <dgm:t>
        <a:bodyPr/>
        <a:lstStyle/>
        <a:p>
          <a:r>
            <a:rPr lang="en-US" sz="1600" b="1" i="0" baseline="0" dirty="0"/>
            <a:t>Exploratory Data Analysis (Python)</a:t>
          </a:r>
          <a:r>
            <a:rPr lang="en-US" sz="1600" b="0" i="0" baseline="0" dirty="0"/>
            <a:t> – Identify patterns, outliers, and business insights</a:t>
          </a:r>
          <a:r>
            <a:rPr lang="en-US" sz="1200" b="0" i="0" baseline="0" dirty="0"/>
            <a:t>.</a:t>
          </a:r>
          <a:endParaRPr lang="en-US" sz="1200" dirty="0"/>
        </a:p>
      </dgm:t>
    </dgm:pt>
    <dgm:pt modelId="{D208CA15-DA19-434E-AEF5-8112B27D60C5}" type="parTrans" cxnId="{147F1F43-90C6-4304-B461-AC665DC2BA58}">
      <dgm:prSet/>
      <dgm:spPr/>
      <dgm:t>
        <a:bodyPr/>
        <a:lstStyle/>
        <a:p>
          <a:endParaRPr lang="en-US"/>
        </a:p>
      </dgm:t>
    </dgm:pt>
    <dgm:pt modelId="{21EB78F3-5A75-4E72-AD57-D40697F8FE0A}" type="sibTrans" cxnId="{147F1F43-90C6-4304-B461-AC665DC2BA58}">
      <dgm:prSet/>
      <dgm:spPr/>
      <dgm:t>
        <a:bodyPr/>
        <a:lstStyle/>
        <a:p>
          <a:endParaRPr lang="en-US"/>
        </a:p>
      </dgm:t>
    </dgm:pt>
    <dgm:pt modelId="{77593DD8-4E33-4D1C-8220-CD4C989B33D1}">
      <dgm:prSet custT="1"/>
      <dgm:spPr/>
      <dgm:t>
        <a:bodyPr/>
        <a:lstStyle/>
        <a:p>
          <a:r>
            <a:rPr lang="en-US" sz="1600" b="1" i="0" baseline="0" dirty="0"/>
            <a:t>Visualization (Power BI)</a:t>
          </a:r>
          <a:r>
            <a:rPr lang="en-US" sz="1600" b="0" i="0" baseline="0" dirty="0"/>
            <a:t> – Interactive dashboards for Sales, Stores, Customers, and Returns.</a:t>
          </a:r>
          <a:endParaRPr lang="en-US" sz="1600" dirty="0"/>
        </a:p>
      </dgm:t>
    </dgm:pt>
    <dgm:pt modelId="{4553E735-DE8C-49A0-89D8-F36B10C747B6}" type="parTrans" cxnId="{457E26C3-863D-476F-AEAB-4D71222CCD2F}">
      <dgm:prSet/>
      <dgm:spPr/>
      <dgm:t>
        <a:bodyPr/>
        <a:lstStyle/>
        <a:p>
          <a:endParaRPr lang="en-US"/>
        </a:p>
      </dgm:t>
    </dgm:pt>
    <dgm:pt modelId="{A8706BEA-7D33-400B-A94D-A25D746ED322}" type="sibTrans" cxnId="{457E26C3-863D-476F-AEAB-4D71222CCD2F}">
      <dgm:prSet/>
      <dgm:spPr/>
      <dgm:t>
        <a:bodyPr/>
        <a:lstStyle/>
        <a:p>
          <a:endParaRPr lang="en-US"/>
        </a:p>
      </dgm:t>
    </dgm:pt>
    <dgm:pt modelId="{19A52C70-8B29-4BBD-A424-14DBCEF61BA9}" type="pres">
      <dgm:prSet presAssocID="{07978B68-6B82-4BAA-B795-BEF67CA0B560}" presName="root" presStyleCnt="0">
        <dgm:presLayoutVars>
          <dgm:dir/>
          <dgm:resizeHandles val="exact"/>
        </dgm:presLayoutVars>
      </dgm:prSet>
      <dgm:spPr/>
    </dgm:pt>
    <dgm:pt modelId="{B8A7518B-9BAD-4100-9C83-BC3C93EC403C}" type="pres">
      <dgm:prSet presAssocID="{3E2EA497-C622-492E-85F1-3E2FE3CBBD6E}" presName="compNode" presStyleCnt="0"/>
      <dgm:spPr/>
    </dgm:pt>
    <dgm:pt modelId="{B5BFBD76-F6A4-4552-B4A6-699EBF5B3DC9}" type="pres">
      <dgm:prSet presAssocID="{3E2EA497-C622-492E-85F1-3E2FE3CBBD6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B232B43B-06E6-4830-AEA0-0A200DCD33EA}" type="pres">
      <dgm:prSet presAssocID="{3E2EA497-C622-492E-85F1-3E2FE3CBBD6E}" presName="spaceRect" presStyleCnt="0"/>
      <dgm:spPr/>
    </dgm:pt>
    <dgm:pt modelId="{4B7BFC71-B69A-46A2-834A-B499D0412213}" type="pres">
      <dgm:prSet presAssocID="{3E2EA497-C622-492E-85F1-3E2FE3CBBD6E}" presName="textRect" presStyleLbl="revTx" presStyleIdx="0" presStyleCnt="5">
        <dgm:presLayoutVars>
          <dgm:chMax val="1"/>
          <dgm:chPref val="1"/>
        </dgm:presLayoutVars>
      </dgm:prSet>
      <dgm:spPr/>
    </dgm:pt>
    <dgm:pt modelId="{8B01CDA0-2EA7-47BC-9FE1-28FDB6140B16}" type="pres">
      <dgm:prSet presAssocID="{2D20A11C-608B-4BEB-8E6F-3D0A65247885}" presName="sibTrans" presStyleCnt="0"/>
      <dgm:spPr/>
    </dgm:pt>
    <dgm:pt modelId="{E2281626-46D3-4681-8B42-A545FEDD8450}" type="pres">
      <dgm:prSet presAssocID="{7447F790-12B4-4B88-9798-AF0CDC3511F4}" presName="compNode" presStyleCnt="0"/>
      <dgm:spPr/>
    </dgm:pt>
    <dgm:pt modelId="{0FCB0225-FBCA-4ADA-B576-7E39EA191C2E}" type="pres">
      <dgm:prSet presAssocID="{7447F790-12B4-4B88-9798-AF0CDC3511F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ircles with Arrows"/>
        </a:ext>
      </dgm:extLst>
    </dgm:pt>
    <dgm:pt modelId="{4378C3CD-CE96-464D-812B-FE68E2DB0E6C}" type="pres">
      <dgm:prSet presAssocID="{7447F790-12B4-4B88-9798-AF0CDC3511F4}" presName="spaceRect" presStyleCnt="0"/>
      <dgm:spPr/>
    </dgm:pt>
    <dgm:pt modelId="{93AE8B59-A5CD-4352-85D8-464BE58AFD65}" type="pres">
      <dgm:prSet presAssocID="{7447F790-12B4-4B88-9798-AF0CDC3511F4}" presName="textRect" presStyleLbl="revTx" presStyleIdx="1" presStyleCnt="5">
        <dgm:presLayoutVars>
          <dgm:chMax val="1"/>
          <dgm:chPref val="1"/>
        </dgm:presLayoutVars>
      </dgm:prSet>
      <dgm:spPr/>
    </dgm:pt>
    <dgm:pt modelId="{8C463122-515C-47C9-A886-AFAC254CECA3}" type="pres">
      <dgm:prSet presAssocID="{764EFE4A-1978-4A39-B053-4B3B91EED619}" presName="sibTrans" presStyleCnt="0"/>
      <dgm:spPr/>
    </dgm:pt>
    <dgm:pt modelId="{FD99DD0E-7F05-480B-B6B6-E67EB2788177}" type="pres">
      <dgm:prSet presAssocID="{31C63CE6-9453-43CB-9DB9-83D8FE71F86E}" presName="compNode" presStyleCnt="0"/>
      <dgm:spPr/>
    </dgm:pt>
    <dgm:pt modelId="{8E6024DA-79E6-47A0-A3AB-7F76C1B59C1A}" type="pres">
      <dgm:prSet presAssocID="{31C63CE6-9453-43CB-9DB9-83D8FE71F86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916050A5-945B-4F2F-9DBE-7D05E379BE2E}" type="pres">
      <dgm:prSet presAssocID="{31C63CE6-9453-43CB-9DB9-83D8FE71F86E}" presName="spaceRect" presStyleCnt="0"/>
      <dgm:spPr/>
    </dgm:pt>
    <dgm:pt modelId="{EC02D89F-06F5-41C8-8125-86A345DAA345}" type="pres">
      <dgm:prSet presAssocID="{31C63CE6-9453-43CB-9DB9-83D8FE71F86E}" presName="textRect" presStyleLbl="revTx" presStyleIdx="2" presStyleCnt="5">
        <dgm:presLayoutVars>
          <dgm:chMax val="1"/>
          <dgm:chPref val="1"/>
        </dgm:presLayoutVars>
      </dgm:prSet>
      <dgm:spPr/>
    </dgm:pt>
    <dgm:pt modelId="{296740FD-80B8-45B4-B7FB-BE2AA25296FE}" type="pres">
      <dgm:prSet presAssocID="{90C05C55-F805-47C1-B9EC-D666FB7591D6}" presName="sibTrans" presStyleCnt="0"/>
      <dgm:spPr/>
    </dgm:pt>
    <dgm:pt modelId="{B0B1DF98-9590-4C64-B545-2795A352F62E}" type="pres">
      <dgm:prSet presAssocID="{BF33929E-B3A7-4089-9B65-6D78E8932243}" presName="compNode" presStyleCnt="0"/>
      <dgm:spPr/>
    </dgm:pt>
    <dgm:pt modelId="{5632201C-E842-430F-B7A9-C1A344D25626}" type="pres">
      <dgm:prSet presAssocID="{BF33929E-B3A7-4089-9B65-6D78E893224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cs"/>
        </a:ext>
      </dgm:extLst>
    </dgm:pt>
    <dgm:pt modelId="{D8F6EAB6-E099-4AF5-B52B-B52CF638AA01}" type="pres">
      <dgm:prSet presAssocID="{BF33929E-B3A7-4089-9B65-6D78E8932243}" presName="spaceRect" presStyleCnt="0"/>
      <dgm:spPr/>
    </dgm:pt>
    <dgm:pt modelId="{A1148A1A-5002-4019-84F9-736AC1CBB14E}" type="pres">
      <dgm:prSet presAssocID="{BF33929E-B3A7-4089-9B65-6D78E8932243}" presName="textRect" presStyleLbl="revTx" presStyleIdx="3" presStyleCnt="5">
        <dgm:presLayoutVars>
          <dgm:chMax val="1"/>
          <dgm:chPref val="1"/>
        </dgm:presLayoutVars>
      </dgm:prSet>
      <dgm:spPr/>
    </dgm:pt>
    <dgm:pt modelId="{5B2A36D8-0E1B-4EFF-9BF6-ED1599A96E33}" type="pres">
      <dgm:prSet presAssocID="{21EB78F3-5A75-4E72-AD57-D40697F8FE0A}" presName="sibTrans" presStyleCnt="0"/>
      <dgm:spPr/>
    </dgm:pt>
    <dgm:pt modelId="{B485FCA0-0AB5-4311-A646-86B591716FAB}" type="pres">
      <dgm:prSet presAssocID="{77593DD8-4E33-4D1C-8220-CD4C989B33D1}" presName="compNode" presStyleCnt="0"/>
      <dgm:spPr/>
    </dgm:pt>
    <dgm:pt modelId="{A5077C87-85A8-422F-A8F5-0C0F54F8C74A}" type="pres">
      <dgm:prSet presAssocID="{77593DD8-4E33-4D1C-8220-CD4C989B33D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ie chart"/>
        </a:ext>
      </dgm:extLst>
    </dgm:pt>
    <dgm:pt modelId="{7DB34119-8646-4547-B6A3-3D00A48FEBEB}" type="pres">
      <dgm:prSet presAssocID="{77593DD8-4E33-4D1C-8220-CD4C989B33D1}" presName="spaceRect" presStyleCnt="0"/>
      <dgm:spPr/>
    </dgm:pt>
    <dgm:pt modelId="{0BE69408-B930-49CC-9231-07DB4EA88C4B}" type="pres">
      <dgm:prSet presAssocID="{77593DD8-4E33-4D1C-8220-CD4C989B33D1}" presName="textRect" presStyleLbl="revTx" presStyleIdx="4" presStyleCnt="5">
        <dgm:presLayoutVars>
          <dgm:chMax val="1"/>
          <dgm:chPref val="1"/>
        </dgm:presLayoutVars>
      </dgm:prSet>
      <dgm:spPr/>
    </dgm:pt>
  </dgm:ptLst>
  <dgm:cxnLst>
    <dgm:cxn modelId="{B9923F19-E5C6-4468-B49D-29590A4440DE}" type="presOf" srcId="{07978B68-6B82-4BAA-B795-BEF67CA0B560}" destId="{19A52C70-8B29-4BBD-A424-14DBCEF61BA9}" srcOrd="0" destOrd="0" presId="urn:microsoft.com/office/officeart/2018/2/layout/IconLabelList"/>
    <dgm:cxn modelId="{147F1F43-90C6-4304-B461-AC665DC2BA58}" srcId="{07978B68-6B82-4BAA-B795-BEF67CA0B560}" destId="{BF33929E-B3A7-4089-9B65-6D78E8932243}" srcOrd="3" destOrd="0" parTransId="{D208CA15-DA19-434E-AEF5-8112B27D60C5}" sibTransId="{21EB78F3-5A75-4E72-AD57-D40697F8FE0A}"/>
    <dgm:cxn modelId="{E6E82871-7C52-4AF6-B5A1-8378AA20AE7A}" srcId="{07978B68-6B82-4BAA-B795-BEF67CA0B560}" destId="{31C63CE6-9453-43CB-9DB9-83D8FE71F86E}" srcOrd="2" destOrd="0" parTransId="{702EFD6B-E7E4-4D6D-B7EC-594DA993AC86}" sibTransId="{90C05C55-F805-47C1-B9EC-D666FB7591D6}"/>
    <dgm:cxn modelId="{1BF658A6-2A9B-49FF-AEAA-85DB197CF9F6}" type="presOf" srcId="{BF33929E-B3A7-4089-9B65-6D78E8932243}" destId="{A1148A1A-5002-4019-84F9-736AC1CBB14E}" srcOrd="0" destOrd="0" presId="urn:microsoft.com/office/officeart/2018/2/layout/IconLabelList"/>
    <dgm:cxn modelId="{AE0597AC-4F15-427C-8675-32A13D6B9394}" type="presOf" srcId="{3E2EA497-C622-492E-85F1-3E2FE3CBBD6E}" destId="{4B7BFC71-B69A-46A2-834A-B499D0412213}" srcOrd="0" destOrd="0" presId="urn:microsoft.com/office/officeart/2018/2/layout/IconLabelList"/>
    <dgm:cxn modelId="{4B1C3EBC-B175-4066-9D01-106374225CC8}" type="presOf" srcId="{31C63CE6-9453-43CB-9DB9-83D8FE71F86E}" destId="{EC02D89F-06F5-41C8-8125-86A345DAA345}" srcOrd="0" destOrd="0" presId="urn:microsoft.com/office/officeart/2018/2/layout/IconLabelList"/>
    <dgm:cxn modelId="{937289BF-2FFE-4B71-9D53-1C35B07011A4}" type="presOf" srcId="{7447F790-12B4-4B88-9798-AF0CDC3511F4}" destId="{93AE8B59-A5CD-4352-85D8-464BE58AFD65}" srcOrd="0" destOrd="0" presId="urn:microsoft.com/office/officeart/2018/2/layout/IconLabelList"/>
    <dgm:cxn modelId="{457E26C3-863D-476F-AEAB-4D71222CCD2F}" srcId="{07978B68-6B82-4BAA-B795-BEF67CA0B560}" destId="{77593DD8-4E33-4D1C-8220-CD4C989B33D1}" srcOrd="4" destOrd="0" parTransId="{4553E735-DE8C-49A0-89D8-F36B10C747B6}" sibTransId="{A8706BEA-7D33-400B-A94D-A25D746ED322}"/>
    <dgm:cxn modelId="{9276CFCF-5478-4C50-91C1-C0AE42586CE1}" srcId="{07978B68-6B82-4BAA-B795-BEF67CA0B560}" destId="{7447F790-12B4-4B88-9798-AF0CDC3511F4}" srcOrd="1" destOrd="0" parTransId="{6E29904A-5246-4E9C-94B7-ADA5F7B51793}" sibTransId="{764EFE4A-1978-4A39-B053-4B3B91EED619}"/>
    <dgm:cxn modelId="{7B32FBDE-A1D3-4FEE-A8E5-1A18626DA6D2}" type="presOf" srcId="{77593DD8-4E33-4D1C-8220-CD4C989B33D1}" destId="{0BE69408-B930-49CC-9231-07DB4EA88C4B}" srcOrd="0" destOrd="0" presId="urn:microsoft.com/office/officeart/2018/2/layout/IconLabelList"/>
    <dgm:cxn modelId="{EE1AC5FB-B575-45BF-8D81-3CB0F4339840}" srcId="{07978B68-6B82-4BAA-B795-BEF67CA0B560}" destId="{3E2EA497-C622-492E-85F1-3E2FE3CBBD6E}" srcOrd="0" destOrd="0" parTransId="{F79F78AD-5118-458E-AEAA-D4DC2EE6284E}" sibTransId="{2D20A11C-608B-4BEB-8E6F-3D0A65247885}"/>
    <dgm:cxn modelId="{BCC61A26-BCFC-41AC-A930-384E60A6522E}" type="presParOf" srcId="{19A52C70-8B29-4BBD-A424-14DBCEF61BA9}" destId="{B8A7518B-9BAD-4100-9C83-BC3C93EC403C}" srcOrd="0" destOrd="0" presId="urn:microsoft.com/office/officeart/2018/2/layout/IconLabelList"/>
    <dgm:cxn modelId="{CB3AC5BD-AB95-4A62-A470-E19DBA9A98DD}" type="presParOf" srcId="{B8A7518B-9BAD-4100-9C83-BC3C93EC403C}" destId="{B5BFBD76-F6A4-4552-B4A6-699EBF5B3DC9}" srcOrd="0" destOrd="0" presId="urn:microsoft.com/office/officeart/2018/2/layout/IconLabelList"/>
    <dgm:cxn modelId="{32697A4E-47A0-4901-B0A4-2BF4EAE734C1}" type="presParOf" srcId="{B8A7518B-9BAD-4100-9C83-BC3C93EC403C}" destId="{B232B43B-06E6-4830-AEA0-0A200DCD33EA}" srcOrd="1" destOrd="0" presId="urn:microsoft.com/office/officeart/2018/2/layout/IconLabelList"/>
    <dgm:cxn modelId="{F7304FAD-2613-48B8-8DAB-C98493A87A34}" type="presParOf" srcId="{B8A7518B-9BAD-4100-9C83-BC3C93EC403C}" destId="{4B7BFC71-B69A-46A2-834A-B499D0412213}" srcOrd="2" destOrd="0" presId="urn:microsoft.com/office/officeart/2018/2/layout/IconLabelList"/>
    <dgm:cxn modelId="{0D8216F5-BA93-4B44-B9CB-5D25B28C59E8}" type="presParOf" srcId="{19A52C70-8B29-4BBD-A424-14DBCEF61BA9}" destId="{8B01CDA0-2EA7-47BC-9FE1-28FDB6140B16}" srcOrd="1" destOrd="0" presId="urn:microsoft.com/office/officeart/2018/2/layout/IconLabelList"/>
    <dgm:cxn modelId="{57680156-31BE-4995-B93C-4F621E51937F}" type="presParOf" srcId="{19A52C70-8B29-4BBD-A424-14DBCEF61BA9}" destId="{E2281626-46D3-4681-8B42-A545FEDD8450}" srcOrd="2" destOrd="0" presId="urn:microsoft.com/office/officeart/2018/2/layout/IconLabelList"/>
    <dgm:cxn modelId="{145CC8BF-9A0B-4070-B40E-820053E0ABBF}" type="presParOf" srcId="{E2281626-46D3-4681-8B42-A545FEDD8450}" destId="{0FCB0225-FBCA-4ADA-B576-7E39EA191C2E}" srcOrd="0" destOrd="0" presId="urn:microsoft.com/office/officeart/2018/2/layout/IconLabelList"/>
    <dgm:cxn modelId="{1145DB1C-DECA-4267-BBC3-CD1791E56C2E}" type="presParOf" srcId="{E2281626-46D3-4681-8B42-A545FEDD8450}" destId="{4378C3CD-CE96-464D-812B-FE68E2DB0E6C}" srcOrd="1" destOrd="0" presId="urn:microsoft.com/office/officeart/2018/2/layout/IconLabelList"/>
    <dgm:cxn modelId="{46000B39-7837-4857-9923-FE60A4CF7396}" type="presParOf" srcId="{E2281626-46D3-4681-8B42-A545FEDD8450}" destId="{93AE8B59-A5CD-4352-85D8-464BE58AFD65}" srcOrd="2" destOrd="0" presId="urn:microsoft.com/office/officeart/2018/2/layout/IconLabelList"/>
    <dgm:cxn modelId="{9E5C9721-1845-4C22-B357-97BF7ECCA3ED}" type="presParOf" srcId="{19A52C70-8B29-4BBD-A424-14DBCEF61BA9}" destId="{8C463122-515C-47C9-A886-AFAC254CECA3}" srcOrd="3" destOrd="0" presId="urn:microsoft.com/office/officeart/2018/2/layout/IconLabelList"/>
    <dgm:cxn modelId="{D5C59E9A-31F4-4491-B1E1-D7EBD7DF1AF2}" type="presParOf" srcId="{19A52C70-8B29-4BBD-A424-14DBCEF61BA9}" destId="{FD99DD0E-7F05-480B-B6B6-E67EB2788177}" srcOrd="4" destOrd="0" presId="urn:microsoft.com/office/officeart/2018/2/layout/IconLabelList"/>
    <dgm:cxn modelId="{F1B9921F-3591-45C0-8733-51E8DC91B385}" type="presParOf" srcId="{FD99DD0E-7F05-480B-B6B6-E67EB2788177}" destId="{8E6024DA-79E6-47A0-A3AB-7F76C1B59C1A}" srcOrd="0" destOrd="0" presId="urn:microsoft.com/office/officeart/2018/2/layout/IconLabelList"/>
    <dgm:cxn modelId="{372C7F60-18DF-4BB1-805B-3EB51C8FF67C}" type="presParOf" srcId="{FD99DD0E-7F05-480B-B6B6-E67EB2788177}" destId="{916050A5-945B-4F2F-9DBE-7D05E379BE2E}" srcOrd="1" destOrd="0" presId="urn:microsoft.com/office/officeart/2018/2/layout/IconLabelList"/>
    <dgm:cxn modelId="{F0D2B811-E355-4BFC-9865-6AD7CFD113DF}" type="presParOf" srcId="{FD99DD0E-7F05-480B-B6B6-E67EB2788177}" destId="{EC02D89F-06F5-41C8-8125-86A345DAA345}" srcOrd="2" destOrd="0" presId="urn:microsoft.com/office/officeart/2018/2/layout/IconLabelList"/>
    <dgm:cxn modelId="{4759EB48-0076-4A2B-9C56-2C71E452E9D6}" type="presParOf" srcId="{19A52C70-8B29-4BBD-A424-14DBCEF61BA9}" destId="{296740FD-80B8-45B4-B7FB-BE2AA25296FE}" srcOrd="5" destOrd="0" presId="urn:microsoft.com/office/officeart/2018/2/layout/IconLabelList"/>
    <dgm:cxn modelId="{BEBE0562-71C4-4B6A-B630-1B709091D3D0}" type="presParOf" srcId="{19A52C70-8B29-4BBD-A424-14DBCEF61BA9}" destId="{B0B1DF98-9590-4C64-B545-2795A352F62E}" srcOrd="6" destOrd="0" presId="urn:microsoft.com/office/officeart/2018/2/layout/IconLabelList"/>
    <dgm:cxn modelId="{9B28DF4E-77C7-4BB2-898C-CDAD32EF2B78}" type="presParOf" srcId="{B0B1DF98-9590-4C64-B545-2795A352F62E}" destId="{5632201C-E842-430F-B7A9-C1A344D25626}" srcOrd="0" destOrd="0" presId="urn:microsoft.com/office/officeart/2018/2/layout/IconLabelList"/>
    <dgm:cxn modelId="{7EEC2F4E-5BFB-47D0-BC65-7D37A4BF60BF}" type="presParOf" srcId="{B0B1DF98-9590-4C64-B545-2795A352F62E}" destId="{D8F6EAB6-E099-4AF5-B52B-B52CF638AA01}" srcOrd="1" destOrd="0" presId="urn:microsoft.com/office/officeart/2018/2/layout/IconLabelList"/>
    <dgm:cxn modelId="{B18AA292-F5A0-4ECF-A44C-453FAA252E6E}" type="presParOf" srcId="{B0B1DF98-9590-4C64-B545-2795A352F62E}" destId="{A1148A1A-5002-4019-84F9-736AC1CBB14E}" srcOrd="2" destOrd="0" presId="urn:microsoft.com/office/officeart/2018/2/layout/IconLabelList"/>
    <dgm:cxn modelId="{B3A8C65D-9B4C-437E-A6EC-7CB1FB0496F3}" type="presParOf" srcId="{19A52C70-8B29-4BBD-A424-14DBCEF61BA9}" destId="{5B2A36D8-0E1B-4EFF-9BF6-ED1599A96E33}" srcOrd="7" destOrd="0" presId="urn:microsoft.com/office/officeart/2018/2/layout/IconLabelList"/>
    <dgm:cxn modelId="{FEA45B99-B0A4-46FF-9CF5-CCA9D02A353B}" type="presParOf" srcId="{19A52C70-8B29-4BBD-A424-14DBCEF61BA9}" destId="{B485FCA0-0AB5-4311-A646-86B591716FAB}" srcOrd="8" destOrd="0" presId="urn:microsoft.com/office/officeart/2018/2/layout/IconLabelList"/>
    <dgm:cxn modelId="{0F9C7788-E609-4FE9-8A74-2DF5637D7231}" type="presParOf" srcId="{B485FCA0-0AB5-4311-A646-86B591716FAB}" destId="{A5077C87-85A8-422F-A8F5-0C0F54F8C74A}" srcOrd="0" destOrd="0" presId="urn:microsoft.com/office/officeart/2018/2/layout/IconLabelList"/>
    <dgm:cxn modelId="{0F718481-95A0-409F-9A99-3D768580CCDC}" type="presParOf" srcId="{B485FCA0-0AB5-4311-A646-86B591716FAB}" destId="{7DB34119-8646-4547-B6A3-3D00A48FEBEB}" srcOrd="1" destOrd="0" presId="urn:microsoft.com/office/officeart/2018/2/layout/IconLabelList"/>
    <dgm:cxn modelId="{F2B42052-3CB3-4C6F-8FD7-4F7BF3010400}" type="presParOf" srcId="{B485FCA0-0AB5-4311-A646-86B591716FAB}" destId="{0BE69408-B930-49CC-9231-07DB4EA88C4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BFBD76-F6A4-4552-B4A6-699EBF5B3DC9}">
      <dsp:nvSpPr>
        <dsp:cNvPr id="0" name=""/>
        <dsp:cNvSpPr/>
      </dsp:nvSpPr>
      <dsp:spPr>
        <a:xfrm>
          <a:off x="546600" y="449771"/>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7BFC71-B69A-46A2-834A-B499D0412213}">
      <dsp:nvSpPr>
        <dsp:cNvPr id="0" name=""/>
        <dsp:cNvSpPr/>
      </dsp:nvSpPr>
      <dsp:spPr>
        <a:xfrm>
          <a:off x="51600" y="1579451"/>
          <a:ext cx="1800000" cy="99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i="0" kern="1200" baseline="0" dirty="0"/>
            <a:t>Data Integration</a:t>
          </a:r>
          <a:r>
            <a:rPr lang="en-US" sz="1600" b="0" i="0" kern="1200" baseline="0" dirty="0"/>
            <a:t> – Sales, Customers, Products, Stores, and Returns</a:t>
          </a:r>
          <a:r>
            <a:rPr lang="en-US" sz="1400" b="0" i="0" kern="1200" baseline="0" dirty="0"/>
            <a:t>.</a:t>
          </a:r>
          <a:endParaRPr lang="en-US" sz="1400" kern="1200" dirty="0"/>
        </a:p>
      </dsp:txBody>
      <dsp:txXfrm>
        <a:off x="51600" y="1579451"/>
        <a:ext cx="1800000" cy="999843"/>
      </dsp:txXfrm>
    </dsp:sp>
    <dsp:sp modelId="{0FCB0225-FBCA-4ADA-B576-7E39EA191C2E}">
      <dsp:nvSpPr>
        <dsp:cNvPr id="0" name=""/>
        <dsp:cNvSpPr/>
      </dsp:nvSpPr>
      <dsp:spPr>
        <a:xfrm>
          <a:off x="2661600" y="449771"/>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AE8B59-A5CD-4352-85D8-464BE58AFD65}">
      <dsp:nvSpPr>
        <dsp:cNvPr id="0" name=""/>
        <dsp:cNvSpPr/>
      </dsp:nvSpPr>
      <dsp:spPr>
        <a:xfrm>
          <a:off x="2166600" y="1579451"/>
          <a:ext cx="1800000" cy="99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i="0" kern="1200" baseline="0" dirty="0"/>
            <a:t>Data Cleaning &amp; Manipulation</a:t>
          </a:r>
          <a:r>
            <a:rPr lang="en-US" sz="1600" b="0" i="0" kern="1200" baseline="0" dirty="0"/>
            <a:t> – Remove duplicates, fix missing values, standardize formats.</a:t>
          </a:r>
          <a:endParaRPr lang="en-US" sz="1600" kern="1200" dirty="0"/>
        </a:p>
      </dsp:txBody>
      <dsp:txXfrm>
        <a:off x="2166600" y="1579451"/>
        <a:ext cx="1800000" cy="999843"/>
      </dsp:txXfrm>
    </dsp:sp>
    <dsp:sp modelId="{8E6024DA-79E6-47A0-A3AB-7F76C1B59C1A}">
      <dsp:nvSpPr>
        <dsp:cNvPr id="0" name=""/>
        <dsp:cNvSpPr/>
      </dsp:nvSpPr>
      <dsp:spPr>
        <a:xfrm>
          <a:off x="4776600" y="449771"/>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02D89F-06F5-41C8-8125-86A345DAA345}">
      <dsp:nvSpPr>
        <dsp:cNvPr id="0" name=""/>
        <dsp:cNvSpPr/>
      </dsp:nvSpPr>
      <dsp:spPr>
        <a:xfrm>
          <a:off x="4281600" y="1579451"/>
          <a:ext cx="1800000" cy="99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i="0" kern="1200" baseline="0" dirty="0"/>
            <a:t>SQL Analysis</a:t>
          </a:r>
          <a:r>
            <a:rPr lang="en-US" sz="1600" b="0" i="0" kern="1200" baseline="0" dirty="0"/>
            <a:t> – Extract profit, customer trends, and returns.</a:t>
          </a:r>
          <a:endParaRPr lang="en-US" sz="1600" kern="1200" dirty="0"/>
        </a:p>
      </dsp:txBody>
      <dsp:txXfrm>
        <a:off x="4281600" y="1579451"/>
        <a:ext cx="1800000" cy="999843"/>
      </dsp:txXfrm>
    </dsp:sp>
    <dsp:sp modelId="{5632201C-E842-430F-B7A9-C1A344D25626}">
      <dsp:nvSpPr>
        <dsp:cNvPr id="0" name=""/>
        <dsp:cNvSpPr/>
      </dsp:nvSpPr>
      <dsp:spPr>
        <a:xfrm>
          <a:off x="6891600" y="449771"/>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1148A1A-5002-4019-84F9-736AC1CBB14E}">
      <dsp:nvSpPr>
        <dsp:cNvPr id="0" name=""/>
        <dsp:cNvSpPr/>
      </dsp:nvSpPr>
      <dsp:spPr>
        <a:xfrm>
          <a:off x="6396600" y="1579451"/>
          <a:ext cx="1800000" cy="99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i="0" kern="1200" baseline="0" dirty="0"/>
            <a:t>Exploratory Data Analysis (Python)</a:t>
          </a:r>
          <a:r>
            <a:rPr lang="en-US" sz="1600" b="0" i="0" kern="1200" baseline="0" dirty="0"/>
            <a:t> – Identify patterns, outliers, and business insights</a:t>
          </a:r>
          <a:r>
            <a:rPr lang="en-US" sz="1200" b="0" i="0" kern="1200" baseline="0" dirty="0"/>
            <a:t>.</a:t>
          </a:r>
          <a:endParaRPr lang="en-US" sz="1200" kern="1200" dirty="0"/>
        </a:p>
      </dsp:txBody>
      <dsp:txXfrm>
        <a:off x="6396600" y="1579451"/>
        <a:ext cx="1800000" cy="999843"/>
      </dsp:txXfrm>
    </dsp:sp>
    <dsp:sp modelId="{A5077C87-85A8-422F-A8F5-0C0F54F8C74A}">
      <dsp:nvSpPr>
        <dsp:cNvPr id="0" name=""/>
        <dsp:cNvSpPr/>
      </dsp:nvSpPr>
      <dsp:spPr>
        <a:xfrm>
          <a:off x="9006600" y="449771"/>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BE69408-B930-49CC-9231-07DB4EA88C4B}">
      <dsp:nvSpPr>
        <dsp:cNvPr id="0" name=""/>
        <dsp:cNvSpPr/>
      </dsp:nvSpPr>
      <dsp:spPr>
        <a:xfrm>
          <a:off x="8511600" y="1579451"/>
          <a:ext cx="1800000" cy="99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i="0" kern="1200" baseline="0" dirty="0"/>
            <a:t>Visualization (Power BI)</a:t>
          </a:r>
          <a:r>
            <a:rPr lang="en-US" sz="1600" b="0" i="0" kern="1200" baseline="0" dirty="0"/>
            <a:t> – Interactive dashboards for Sales, Stores, Customers, and Returns.</a:t>
          </a:r>
          <a:endParaRPr lang="en-US" sz="1600" kern="1200" dirty="0"/>
        </a:p>
      </dsp:txBody>
      <dsp:txXfrm>
        <a:off x="8511600" y="1579451"/>
        <a:ext cx="1800000" cy="999843"/>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9E9432-0D98-4622-AACC-0007D114B60F}" type="datetimeFigureOut">
              <a:rPr lang="en-IN" smtClean="0"/>
              <a:t>14-09-2025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60E74D-EEA3-4AFD-90F8-E31364ACAB56}" type="slidenum">
              <a:rPr lang="en-IN" smtClean="0"/>
              <a:t>‹#›</a:t>
            </a:fld>
            <a:endParaRPr lang="en-IN"/>
          </a:p>
        </p:txBody>
      </p:sp>
    </p:spTree>
    <p:extLst>
      <p:ext uri="{BB962C8B-B14F-4D97-AF65-F5344CB8AC3E}">
        <p14:creationId xmlns:p14="http://schemas.microsoft.com/office/powerpoint/2010/main" val="1640879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60E74D-EEA3-4AFD-90F8-E31364ACAB56}" type="slidenum">
              <a:rPr lang="en-IN" smtClean="0"/>
              <a:t>11</a:t>
            </a:fld>
            <a:endParaRPr lang="en-IN"/>
          </a:p>
        </p:txBody>
      </p:sp>
    </p:spTree>
    <p:extLst>
      <p:ext uri="{BB962C8B-B14F-4D97-AF65-F5344CB8AC3E}">
        <p14:creationId xmlns:p14="http://schemas.microsoft.com/office/powerpoint/2010/main" val="37032045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9/14/2025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9/14/2025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50CAEE-CAC0-4F18-9593-F09A3338C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D2DA77D5-12C4-446D-AC72-A514960A55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73623" t="43915" r="1" b="10213"/>
          <a:stretch/>
        </p:blipFill>
        <p:spPr>
          <a:xfrm>
            <a:off x="8199690" y="290557"/>
            <a:ext cx="3992310" cy="3905520"/>
          </a:xfrm>
          <a:prstGeom prst="rect">
            <a:avLst/>
          </a:prstGeom>
        </p:spPr>
      </p:pic>
      <p:pic>
        <p:nvPicPr>
          <p:cNvPr id="12" name="Picture 11">
            <a:extLst>
              <a:ext uri="{FF2B5EF4-FFF2-40B4-BE49-F238E27FC236}">
                <a16:creationId xmlns:a16="http://schemas.microsoft.com/office/drawing/2014/main" id="{19E04E4F-6B32-4651-ACE0-DACABF1FC2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12450" t="1120" r="54326" b="73832"/>
          <a:stretch/>
        </p:blipFill>
        <p:spPr>
          <a:xfrm>
            <a:off x="4581330" y="0"/>
            <a:ext cx="6762408" cy="2867764"/>
          </a:xfrm>
          <a:prstGeom prst="rect">
            <a:avLst/>
          </a:prstGeom>
        </p:spPr>
      </p:pic>
      <p:sp>
        <p:nvSpPr>
          <p:cNvPr id="2" name="Title 1">
            <a:extLst>
              <a:ext uri="{FF2B5EF4-FFF2-40B4-BE49-F238E27FC236}">
                <a16:creationId xmlns:a16="http://schemas.microsoft.com/office/drawing/2014/main" id="{962C1673-BDC5-F0C1-613F-BD54E9D6604C}"/>
              </a:ext>
            </a:extLst>
          </p:cNvPr>
          <p:cNvSpPr>
            <a:spLocks noGrp="1"/>
          </p:cNvSpPr>
          <p:nvPr>
            <p:ph type="ctrTitle"/>
          </p:nvPr>
        </p:nvSpPr>
        <p:spPr>
          <a:xfrm>
            <a:off x="1286933" y="2213361"/>
            <a:ext cx="6247721" cy="2204815"/>
          </a:xfrm>
        </p:spPr>
        <p:txBody>
          <a:bodyPr>
            <a:normAutofit/>
          </a:bodyPr>
          <a:lstStyle/>
          <a:p>
            <a:pPr algn="l"/>
            <a:r>
              <a:rPr lang="en-US" sz="4400"/>
              <a:t>End-to-End Retail Performance and Behavioral Analytics </a:t>
            </a:r>
            <a:endParaRPr lang="en-IN" sz="4400"/>
          </a:p>
        </p:txBody>
      </p:sp>
      <p:sp>
        <p:nvSpPr>
          <p:cNvPr id="3" name="Subtitle 2">
            <a:extLst>
              <a:ext uri="{FF2B5EF4-FFF2-40B4-BE49-F238E27FC236}">
                <a16:creationId xmlns:a16="http://schemas.microsoft.com/office/drawing/2014/main" id="{9B8E6304-8E1A-585E-957E-7949DD0033CD}"/>
              </a:ext>
            </a:extLst>
          </p:cNvPr>
          <p:cNvSpPr>
            <a:spLocks noGrp="1"/>
          </p:cNvSpPr>
          <p:nvPr>
            <p:ph type="subTitle" idx="1"/>
          </p:nvPr>
        </p:nvSpPr>
        <p:spPr>
          <a:xfrm>
            <a:off x="1286934" y="4418176"/>
            <a:ext cx="6247721" cy="1264209"/>
          </a:xfrm>
        </p:spPr>
        <p:txBody>
          <a:bodyPr>
            <a:normAutofit/>
          </a:bodyPr>
          <a:lstStyle/>
          <a:p>
            <a:pPr algn="l">
              <a:lnSpc>
                <a:spcPct val="110000"/>
              </a:lnSpc>
            </a:pPr>
            <a:r>
              <a:rPr lang="en-IN" sz="1700" dirty="0">
                <a:solidFill>
                  <a:schemeClr val="tx1">
                    <a:lumMod val="50000"/>
                    <a:lumOff val="50000"/>
                  </a:schemeClr>
                </a:solidFill>
              </a:rPr>
              <a:t>                                                                              </a:t>
            </a:r>
            <a:r>
              <a:rPr lang="en-IN" sz="1700" dirty="0">
                <a:solidFill>
                  <a:schemeClr val="tx1">
                    <a:lumMod val="95000"/>
                    <a:lumOff val="5000"/>
                  </a:schemeClr>
                </a:solidFill>
              </a:rPr>
              <a:t>presented by:</a:t>
            </a:r>
          </a:p>
          <a:p>
            <a:pPr algn="l">
              <a:lnSpc>
                <a:spcPct val="110000"/>
              </a:lnSpc>
            </a:pPr>
            <a:r>
              <a:rPr lang="en-IN" sz="1700" dirty="0">
                <a:solidFill>
                  <a:schemeClr val="tx1">
                    <a:lumMod val="95000"/>
                    <a:lumOff val="5000"/>
                  </a:schemeClr>
                </a:solidFill>
              </a:rPr>
              <a:t>                                                                                  JUWERIYA</a:t>
            </a:r>
          </a:p>
        </p:txBody>
      </p:sp>
      <p:pic>
        <p:nvPicPr>
          <p:cNvPr id="14" name="Picture 13">
            <a:extLst>
              <a:ext uri="{FF2B5EF4-FFF2-40B4-BE49-F238E27FC236}">
                <a16:creationId xmlns:a16="http://schemas.microsoft.com/office/drawing/2014/main" id="{13D4F2B0-7771-46FC-9763-240E8F55F14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65973" t="81531" r="19879"/>
          <a:stretch/>
        </p:blipFill>
        <p:spPr>
          <a:xfrm>
            <a:off x="10246407" y="5429242"/>
            <a:ext cx="1945594" cy="1428758"/>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pic>
        <p:nvPicPr>
          <p:cNvPr id="16" name="Picture 15">
            <a:extLst>
              <a:ext uri="{FF2B5EF4-FFF2-40B4-BE49-F238E27FC236}">
                <a16:creationId xmlns:a16="http://schemas.microsoft.com/office/drawing/2014/main" id="{6164F387-6750-4AFF-8A10-65C64D31ECA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46466" t="75007" r="30510"/>
          <a:stretch/>
        </p:blipFill>
        <p:spPr>
          <a:xfrm>
            <a:off x="9795659" y="4064996"/>
            <a:ext cx="2716669" cy="1658803"/>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Tree>
    <p:extLst>
      <p:ext uri="{BB962C8B-B14F-4D97-AF65-F5344CB8AC3E}">
        <p14:creationId xmlns:p14="http://schemas.microsoft.com/office/powerpoint/2010/main" val="2550415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Title 1">
            <a:extLst>
              <a:ext uri="{FF2B5EF4-FFF2-40B4-BE49-F238E27FC236}">
                <a16:creationId xmlns:a16="http://schemas.microsoft.com/office/drawing/2014/main" id="{BB27E5C4-D166-CCD8-869C-D7F546957E8E}"/>
              </a:ext>
            </a:extLst>
          </p:cNvPr>
          <p:cNvSpPr>
            <a:spLocks noGrp="1"/>
          </p:cNvSpPr>
          <p:nvPr>
            <p:ph type="title"/>
          </p:nvPr>
        </p:nvSpPr>
        <p:spPr>
          <a:xfrm>
            <a:off x="959896" y="960814"/>
            <a:ext cx="2732249" cy="4912936"/>
          </a:xfrm>
        </p:spPr>
        <p:txBody>
          <a:bodyPr anchor="b">
            <a:normAutofit/>
          </a:bodyPr>
          <a:lstStyle/>
          <a:p>
            <a:pPr algn="r"/>
            <a:r>
              <a:rPr lang="en-IN" sz="4000">
                <a:solidFill>
                  <a:schemeClr val="bg1"/>
                </a:solidFill>
              </a:rPr>
              <a:t>Project objective</a:t>
            </a:r>
          </a:p>
        </p:txBody>
      </p:sp>
      <p:sp>
        <p:nvSpPr>
          <p:cNvPr id="3" name="Content Placeholder 2">
            <a:extLst>
              <a:ext uri="{FF2B5EF4-FFF2-40B4-BE49-F238E27FC236}">
                <a16:creationId xmlns:a16="http://schemas.microsoft.com/office/drawing/2014/main" id="{F0D63C27-F727-B2C9-A11C-92D827805966}"/>
              </a:ext>
            </a:extLst>
          </p:cNvPr>
          <p:cNvSpPr>
            <a:spLocks noGrp="1"/>
          </p:cNvSpPr>
          <p:nvPr>
            <p:ph sz="quarter" idx="13"/>
          </p:nvPr>
        </p:nvSpPr>
        <p:spPr>
          <a:xfrm>
            <a:off x="4487917" y="210207"/>
            <a:ext cx="7535917" cy="6484883"/>
          </a:xfrm>
        </p:spPr>
        <p:txBody>
          <a:bodyPr anchor="ctr">
            <a:normAutofit/>
          </a:bodyPr>
          <a:lstStyle/>
          <a:p>
            <a:pPr>
              <a:lnSpc>
                <a:spcPct val="110000"/>
              </a:lnSpc>
            </a:pPr>
            <a:r>
              <a:rPr lang="en-US" dirty="0"/>
              <a:t>The objective of this project is to build a data analytics framework that efficiently integrates and analyzes retail data from multiple sources, including sales, customers, products, stores, and returns. The system captures structured details such as revenue, profit, sales channels, customer demographics, store operating costs, product categories, and return reasons.</a:t>
            </a:r>
          </a:p>
          <a:p>
            <a:pPr>
              <a:lnSpc>
                <a:spcPct val="110000"/>
              </a:lnSpc>
            </a:pPr>
            <a:r>
              <a:rPr lang="en-US" dirty="0"/>
              <a:t>This analytical approach will assist managers, marketers, and decision-makers in understanding key business dynamics such as revenue growth, customer loyalty, store efficiency, and product return patterns. Ultimately, the project supports smarter, data-driven strategies for improving profitability, optimizing costs, enhancing customer engagement, and strengthening competitiveness in the retail industry.</a:t>
            </a:r>
            <a:endParaRPr lang="en-IN" dirty="0"/>
          </a:p>
        </p:txBody>
      </p:sp>
    </p:spTree>
    <p:extLst>
      <p:ext uri="{BB962C8B-B14F-4D97-AF65-F5344CB8AC3E}">
        <p14:creationId xmlns:p14="http://schemas.microsoft.com/office/powerpoint/2010/main" val="446917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F592D-F584-9A2C-7909-698B4F244BFD}"/>
              </a:ext>
            </a:extLst>
          </p:cNvPr>
          <p:cNvSpPr>
            <a:spLocks noGrp="1"/>
          </p:cNvSpPr>
          <p:nvPr>
            <p:ph type="title"/>
          </p:nvPr>
        </p:nvSpPr>
        <p:spPr>
          <a:xfrm>
            <a:off x="913775" y="618517"/>
            <a:ext cx="10364451" cy="1596177"/>
          </a:xfrm>
        </p:spPr>
        <p:txBody>
          <a:bodyPr>
            <a:normAutofit/>
          </a:bodyPr>
          <a:lstStyle/>
          <a:p>
            <a:r>
              <a:rPr lang="en-IN" dirty="0"/>
              <a:t>Main agenda</a:t>
            </a:r>
          </a:p>
        </p:txBody>
      </p:sp>
      <p:graphicFrame>
        <p:nvGraphicFramePr>
          <p:cNvPr id="6" name="Rectangle 1">
            <a:extLst>
              <a:ext uri="{FF2B5EF4-FFF2-40B4-BE49-F238E27FC236}">
                <a16:creationId xmlns:a16="http://schemas.microsoft.com/office/drawing/2014/main" id="{6C4E4172-778F-FF8D-BB28-D6B33167AE2E}"/>
              </a:ext>
            </a:extLst>
          </p:cNvPr>
          <p:cNvGraphicFramePr>
            <a:graphicFrameLocks noGrp="1"/>
          </p:cNvGraphicFramePr>
          <p:nvPr>
            <p:ph sz="quarter" idx="13"/>
            <p:extLst>
              <p:ext uri="{D42A27DB-BD31-4B8C-83A1-F6EECF244321}">
                <p14:modId xmlns:p14="http://schemas.microsoft.com/office/powerpoint/2010/main" val="2765679654"/>
              </p:ext>
            </p:extLst>
          </p:nvPr>
        </p:nvGraphicFramePr>
        <p:xfrm>
          <a:off x="914400" y="2532475"/>
          <a:ext cx="10363200" cy="3029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17639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58954F-C5AC-4BE0-811D-8DFE18E35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59E835-CE77-4DCC-8EC3-1924094D3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60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alculator, pen, compass, money and a paper with graphs printed on it">
            <a:extLst>
              <a:ext uri="{FF2B5EF4-FFF2-40B4-BE49-F238E27FC236}">
                <a16:creationId xmlns:a16="http://schemas.microsoft.com/office/drawing/2014/main" id="{A2588D9B-86A1-F0F9-50E7-4953881609D5}"/>
              </a:ext>
            </a:extLst>
          </p:cNvPr>
          <p:cNvPicPr>
            <a:picLocks noChangeAspect="1"/>
          </p:cNvPicPr>
          <p:nvPr/>
        </p:nvPicPr>
        <p:blipFill>
          <a:blip r:embed="rId2"/>
          <a:srcRect l="34388" r="30165" b="-1"/>
          <a:stretch>
            <a:fillRect/>
          </a:stretch>
        </p:blipFill>
        <p:spPr>
          <a:xfrm>
            <a:off x="8157374" y="10"/>
            <a:ext cx="4034626" cy="6857990"/>
          </a:xfrm>
          <a:prstGeom prst="rect">
            <a:avLst/>
          </a:prstGeom>
        </p:spPr>
      </p:pic>
      <p:pic>
        <p:nvPicPr>
          <p:cNvPr id="13" name="Picture 12">
            <a:extLst>
              <a:ext uri="{FF2B5EF4-FFF2-40B4-BE49-F238E27FC236}">
                <a16:creationId xmlns:a16="http://schemas.microsoft.com/office/drawing/2014/main" id="{B03B59B5-123A-4DC5-87BD-6D3E22FA65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BF0AB34-F2E2-E96C-1B57-2DD283D3DB2C}"/>
              </a:ext>
            </a:extLst>
          </p:cNvPr>
          <p:cNvSpPr>
            <a:spLocks noGrp="1"/>
          </p:cNvSpPr>
          <p:nvPr>
            <p:ph type="title"/>
          </p:nvPr>
        </p:nvSpPr>
        <p:spPr>
          <a:xfrm>
            <a:off x="913776" y="147145"/>
            <a:ext cx="6672886" cy="630621"/>
          </a:xfrm>
        </p:spPr>
        <p:txBody>
          <a:bodyPr>
            <a:normAutofit/>
          </a:bodyPr>
          <a:lstStyle/>
          <a:p>
            <a:r>
              <a:rPr lang="en-IN" dirty="0"/>
              <a:t>introduction</a:t>
            </a:r>
          </a:p>
        </p:txBody>
      </p:sp>
      <p:sp>
        <p:nvSpPr>
          <p:cNvPr id="3" name="Content Placeholder 2">
            <a:extLst>
              <a:ext uri="{FF2B5EF4-FFF2-40B4-BE49-F238E27FC236}">
                <a16:creationId xmlns:a16="http://schemas.microsoft.com/office/drawing/2014/main" id="{D4ACB2DA-A8A0-48DF-9727-1787EA43C1C1}"/>
              </a:ext>
            </a:extLst>
          </p:cNvPr>
          <p:cNvSpPr>
            <a:spLocks noGrp="1"/>
          </p:cNvSpPr>
          <p:nvPr>
            <p:ph sz="quarter" idx="13"/>
          </p:nvPr>
        </p:nvSpPr>
        <p:spPr>
          <a:xfrm>
            <a:off x="913774" y="777766"/>
            <a:ext cx="6672887" cy="5749158"/>
          </a:xfrm>
        </p:spPr>
        <p:txBody>
          <a:bodyPr>
            <a:normAutofit/>
          </a:bodyPr>
          <a:lstStyle/>
          <a:p>
            <a:pPr>
              <a:lnSpc>
                <a:spcPct val="110000"/>
              </a:lnSpc>
            </a:pPr>
            <a:r>
              <a:rPr lang="en-US" sz="1800" dirty="0"/>
              <a:t>The Retail Industry is highly dynamic, with sales performance, customer behavior, store efficiency, and product returns influencing overall profitability. By leveraging </a:t>
            </a:r>
            <a:r>
              <a:rPr lang="en-US" sz="1800" b="1" dirty="0"/>
              <a:t>SQL, Python, and Power BI</a:t>
            </a:r>
            <a:r>
              <a:rPr lang="en-US" sz="1800" dirty="0"/>
              <a:t>, we aim to gather and analyze key information such as </a:t>
            </a:r>
            <a:r>
              <a:rPr lang="en-US" sz="1800" b="1" dirty="0"/>
              <a:t>Revenue, Profit, Customer Demographics, Store Costs, and Return Patterns</a:t>
            </a:r>
            <a:r>
              <a:rPr lang="en-US" sz="1800" dirty="0"/>
              <a:t>, which can be used to identify </a:t>
            </a:r>
            <a:r>
              <a:rPr lang="en-US" sz="1800" b="1" dirty="0"/>
              <a:t>business trends and operational bottlenecks</a:t>
            </a:r>
            <a:r>
              <a:rPr lang="en-US" sz="1800" dirty="0"/>
              <a:t>.</a:t>
            </a:r>
          </a:p>
          <a:p>
            <a:pPr>
              <a:lnSpc>
                <a:spcPct val="110000"/>
              </a:lnSpc>
            </a:pPr>
            <a:r>
              <a:rPr lang="en-US" sz="1800" dirty="0"/>
              <a:t>The project will utilize </a:t>
            </a:r>
            <a:r>
              <a:rPr lang="en-US" sz="1800" b="1" dirty="0"/>
              <a:t>Python libraries like Pandas for data manipulation, and Power BI for visualization</a:t>
            </a:r>
            <a:r>
              <a:rPr lang="en-US" sz="1800" dirty="0"/>
              <a:t>, ensuring accuracy, efficiency, and interactive insights.</a:t>
            </a:r>
          </a:p>
          <a:p>
            <a:pPr>
              <a:lnSpc>
                <a:spcPct val="110000"/>
              </a:lnSpc>
            </a:pPr>
            <a:r>
              <a:rPr lang="en-US" sz="1800" dirty="0"/>
              <a:t>Ultimately, the project seeks to </a:t>
            </a:r>
            <a:r>
              <a:rPr lang="en-US" sz="1800" b="1" dirty="0"/>
              <a:t>enhance transparency in retail operations</a:t>
            </a:r>
            <a:r>
              <a:rPr lang="en-US" sz="1800" dirty="0"/>
              <a:t>, empowering stakeholders to make </a:t>
            </a:r>
            <a:r>
              <a:rPr lang="en-US" sz="1800" b="1" dirty="0"/>
              <a:t>data-driven decisions</a:t>
            </a:r>
            <a:r>
              <a:rPr lang="en-US" sz="1800" dirty="0"/>
              <a:t> that align with current market conditions and customer expectations.</a:t>
            </a:r>
          </a:p>
          <a:p>
            <a:pPr>
              <a:lnSpc>
                <a:spcPct val="110000"/>
              </a:lnSpc>
            </a:pPr>
            <a:endParaRPr lang="en-IN" sz="1400" dirty="0"/>
          </a:p>
        </p:txBody>
      </p:sp>
    </p:spTree>
    <p:extLst>
      <p:ext uri="{BB962C8B-B14F-4D97-AF65-F5344CB8AC3E}">
        <p14:creationId xmlns:p14="http://schemas.microsoft.com/office/powerpoint/2010/main" val="2435839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a keyboard">
            <a:extLst>
              <a:ext uri="{FF2B5EF4-FFF2-40B4-BE49-F238E27FC236}">
                <a16:creationId xmlns:a16="http://schemas.microsoft.com/office/drawing/2014/main" id="{25521D9C-B7DE-444B-8AA5-1D5890F67F5D}"/>
              </a:ext>
            </a:extLst>
          </p:cNvPr>
          <p:cNvPicPr>
            <a:picLocks noChangeAspect="1"/>
          </p:cNvPicPr>
          <p:nvPr/>
        </p:nvPicPr>
        <p:blipFill>
          <a:blip r:embed="rId2"/>
          <a:srcRect l="20974" r="41026" b="1"/>
          <a:stretch>
            <a:fillRect/>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26C2EAC-5CAF-7DF6-FDB7-9B04B7C5FCAC}"/>
              </a:ext>
            </a:extLst>
          </p:cNvPr>
          <p:cNvSpPr>
            <a:spLocks noGrp="1"/>
          </p:cNvSpPr>
          <p:nvPr>
            <p:ph type="title"/>
          </p:nvPr>
        </p:nvSpPr>
        <p:spPr>
          <a:xfrm>
            <a:off x="4465050" y="199697"/>
            <a:ext cx="6672886" cy="725213"/>
          </a:xfrm>
        </p:spPr>
        <p:txBody>
          <a:bodyPr>
            <a:normAutofit/>
          </a:bodyPr>
          <a:lstStyle/>
          <a:p>
            <a:r>
              <a:rPr lang="en-IN" dirty="0"/>
              <a:t>Tools used</a:t>
            </a:r>
          </a:p>
        </p:txBody>
      </p:sp>
      <p:sp>
        <p:nvSpPr>
          <p:cNvPr id="3" name="Content Placeholder 2">
            <a:extLst>
              <a:ext uri="{FF2B5EF4-FFF2-40B4-BE49-F238E27FC236}">
                <a16:creationId xmlns:a16="http://schemas.microsoft.com/office/drawing/2014/main" id="{BC876381-FF88-0217-75E7-EA614A1831B0}"/>
              </a:ext>
            </a:extLst>
          </p:cNvPr>
          <p:cNvSpPr>
            <a:spLocks noGrp="1"/>
          </p:cNvSpPr>
          <p:nvPr>
            <p:ph sz="quarter" idx="13"/>
          </p:nvPr>
        </p:nvSpPr>
        <p:spPr>
          <a:xfrm>
            <a:off x="4465048" y="924910"/>
            <a:ext cx="6672887" cy="4866289"/>
          </a:xfrm>
        </p:spPr>
        <p:txBody>
          <a:bodyPr>
            <a:normAutofit/>
          </a:bodyPr>
          <a:lstStyle/>
          <a:p>
            <a:pPr>
              <a:lnSpc>
                <a:spcPct val="110000"/>
              </a:lnSpc>
            </a:pPr>
            <a:r>
              <a:rPr lang="en-US" dirty="0">
                <a:latin typeface="Times New Roman" panose="02020603050405020304" pitchFamily="18" charset="0"/>
                <a:cs typeface="Times New Roman" panose="02020603050405020304" pitchFamily="18" charset="0"/>
              </a:rPr>
              <a:t>Software Requirement:-</a:t>
            </a:r>
          </a:p>
          <a:p>
            <a:pPr>
              <a:lnSpc>
                <a:spcPct val="110000"/>
              </a:lnSpc>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Python(</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a:t>
            </a:r>
          </a:p>
          <a:p>
            <a:pPr>
              <a:lnSpc>
                <a:spcPct val="110000"/>
              </a:lnSpc>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err="1">
                <a:latin typeface="Times New Roman" panose="02020603050405020304" pitchFamily="18" charset="0"/>
                <a:cs typeface="Times New Roman" panose="02020603050405020304" pitchFamily="18" charset="0"/>
              </a:rPr>
              <a:t>Powerbi</a:t>
            </a:r>
            <a:endParaRPr lang="en-US" dirty="0">
              <a:latin typeface="Times New Roman" panose="02020603050405020304" pitchFamily="18" charset="0"/>
              <a:cs typeface="Times New Roman" panose="02020603050405020304" pitchFamily="18" charset="0"/>
            </a:endParaRPr>
          </a:p>
          <a:p>
            <a:pPr>
              <a:lnSpc>
                <a:spcPct val="110000"/>
              </a:lnSpc>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Excel</a:t>
            </a:r>
          </a:p>
          <a:p>
            <a:pPr>
              <a:lnSpc>
                <a:spcPct val="110000"/>
              </a:lnSpc>
            </a:pPr>
            <a:endParaRPr lang="en-US" dirty="0">
              <a:latin typeface="Times New Roman" panose="02020603050405020304" pitchFamily="18" charset="0"/>
              <a:cs typeface="Times New Roman" panose="02020603050405020304" pitchFamily="18" charset="0"/>
            </a:endParaRPr>
          </a:p>
          <a:p>
            <a:pPr>
              <a:lnSpc>
                <a:spcPct val="110000"/>
              </a:lnSpc>
            </a:pPr>
            <a:r>
              <a:rPr lang="en-US" dirty="0">
                <a:latin typeface="Times New Roman" panose="02020603050405020304" pitchFamily="18" charset="0"/>
                <a:cs typeface="Times New Roman" panose="02020603050405020304" pitchFamily="18" charset="0"/>
              </a:rPr>
              <a:t>Main Software Libraries:-</a:t>
            </a:r>
          </a:p>
          <a:p>
            <a:pPr>
              <a:lnSpc>
                <a:spcPct val="110000"/>
              </a:lnSpc>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Pandas</a:t>
            </a:r>
          </a:p>
          <a:p>
            <a:pPr>
              <a:lnSpc>
                <a:spcPct val="110000"/>
              </a:lnSpc>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err="1">
                <a:latin typeface="Times New Roman" panose="02020603050405020304" pitchFamily="18" charset="0"/>
                <a:cs typeface="Times New Roman" panose="02020603050405020304" pitchFamily="18" charset="0"/>
              </a:rPr>
              <a:t>Numpy</a:t>
            </a:r>
            <a:endParaRPr lang="en-US" dirty="0">
              <a:latin typeface="Times New Roman" panose="02020603050405020304" pitchFamily="18" charset="0"/>
              <a:cs typeface="Times New Roman" panose="02020603050405020304" pitchFamily="18" charset="0"/>
            </a:endParaRPr>
          </a:p>
          <a:p>
            <a:pPr>
              <a:lnSpc>
                <a:spcPct val="110000"/>
              </a:lnSpc>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CSV</a:t>
            </a:r>
            <a:endParaRPr lang="en-IN" dirty="0">
              <a:latin typeface="Times New Roman" panose="02020603050405020304" pitchFamily="18" charset="0"/>
              <a:cs typeface="Times New Roman" panose="02020603050405020304" pitchFamily="18" charset="0"/>
            </a:endParaRPr>
          </a:p>
          <a:p>
            <a:pPr>
              <a:lnSpc>
                <a:spcPct val="110000"/>
              </a:lnSpc>
            </a:pPr>
            <a:endParaRPr lang="en-IN" sz="1400" dirty="0"/>
          </a:p>
        </p:txBody>
      </p:sp>
    </p:spTree>
    <p:extLst>
      <p:ext uri="{BB962C8B-B14F-4D97-AF65-F5344CB8AC3E}">
        <p14:creationId xmlns:p14="http://schemas.microsoft.com/office/powerpoint/2010/main" val="524287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2A1E-12A7-B173-EAB9-141071BED94F}"/>
              </a:ext>
            </a:extLst>
          </p:cNvPr>
          <p:cNvSpPr>
            <a:spLocks noGrp="1"/>
          </p:cNvSpPr>
          <p:nvPr>
            <p:ph type="title"/>
          </p:nvPr>
        </p:nvSpPr>
        <p:spPr>
          <a:xfrm>
            <a:off x="913775" y="68827"/>
            <a:ext cx="10364451" cy="1209368"/>
          </a:xfrm>
        </p:spPr>
        <p:txBody>
          <a:bodyPr/>
          <a:lstStyle/>
          <a:p>
            <a:r>
              <a:rPr lang="en-IN" dirty="0"/>
              <a:t>Customers dashboard</a:t>
            </a:r>
          </a:p>
        </p:txBody>
      </p:sp>
      <p:pic>
        <p:nvPicPr>
          <p:cNvPr id="7" name="Content Placeholder 6" descr="A screenshot of a chart">
            <a:extLst>
              <a:ext uri="{FF2B5EF4-FFF2-40B4-BE49-F238E27FC236}">
                <a16:creationId xmlns:a16="http://schemas.microsoft.com/office/drawing/2014/main" id="{568972F5-BF74-1E1D-62D8-C180D94228D0}"/>
              </a:ext>
            </a:extLst>
          </p:cNvPr>
          <p:cNvPicPr>
            <a:picLocks noGrp="1" noChangeAspect="1"/>
          </p:cNvPicPr>
          <p:nvPr>
            <p:ph sz="quarter" idx="13"/>
          </p:nvPr>
        </p:nvPicPr>
        <p:blipFill>
          <a:blip r:embed="rId2"/>
          <a:stretch>
            <a:fillRect/>
          </a:stretch>
        </p:blipFill>
        <p:spPr>
          <a:xfrm>
            <a:off x="691801" y="929041"/>
            <a:ext cx="10920096" cy="5760944"/>
          </a:xfrm>
        </p:spPr>
      </p:pic>
    </p:spTree>
    <p:extLst>
      <p:ext uri="{BB962C8B-B14F-4D97-AF65-F5344CB8AC3E}">
        <p14:creationId xmlns:p14="http://schemas.microsoft.com/office/powerpoint/2010/main" val="36506573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05B87-1046-5C4D-1DB9-5AEB37137EC2}"/>
              </a:ext>
            </a:extLst>
          </p:cNvPr>
          <p:cNvSpPr>
            <a:spLocks noGrp="1"/>
          </p:cNvSpPr>
          <p:nvPr>
            <p:ph type="title"/>
          </p:nvPr>
        </p:nvSpPr>
        <p:spPr>
          <a:xfrm>
            <a:off x="913775" y="84083"/>
            <a:ext cx="10364451" cy="1061545"/>
          </a:xfrm>
        </p:spPr>
        <p:txBody>
          <a:bodyPr>
            <a:normAutofit/>
          </a:bodyPr>
          <a:lstStyle/>
          <a:p>
            <a:r>
              <a:rPr lang="en-IN" dirty="0"/>
              <a:t>Products dashboard</a:t>
            </a:r>
          </a:p>
        </p:txBody>
      </p:sp>
      <p:pic>
        <p:nvPicPr>
          <p:cNvPr id="5" name="Content Placeholder 4" descr="A screenshot of a computer screen">
            <a:extLst>
              <a:ext uri="{FF2B5EF4-FFF2-40B4-BE49-F238E27FC236}">
                <a16:creationId xmlns:a16="http://schemas.microsoft.com/office/drawing/2014/main" id="{60E0817D-DF62-4CF8-150A-79E185A61488}"/>
              </a:ext>
            </a:extLst>
          </p:cNvPr>
          <p:cNvPicPr>
            <a:picLocks noGrp="1" noChangeAspect="1"/>
          </p:cNvPicPr>
          <p:nvPr>
            <p:ph sz="quarter" idx="13"/>
          </p:nvPr>
        </p:nvPicPr>
        <p:blipFill>
          <a:blip r:embed="rId2"/>
          <a:stretch>
            <a:fillRect/>
          </a:stretch>
        </p:blipFill>
        <p:spPr>
          <a:xfrm>
            <a:off x="701641" y="987972"/>
            <a:ext cx="10788718" cy="5611970"/>
          </a:xfrm>
        </p:spPr>
      </p:pic>
    </p:spTree>
    <p:extLst>
      <p:ext uri="{BB962C8B-B14F-4D97-AF65-F5344CB8AC3E}">
        <p14:creationId xmlns:p14="http://schemas.microsoft.com/office/powerpoint/2010/main" val="192782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FE44B-EE46-D3F4-AF3E-6C152398D875}"/>
              </a:ext>
            </a:extLst>
          </p:cNvPr>
          <p:cNvSpPr>
            <a:spLocks noGrp="1"/>
          </p:cNvSpPr>
          <p:nvPr>
            <p:ph type="title"/>
          </p:nvPr>
        </p:nvSpPr>
        <p:spPr>
          <a:xfrm>
            <a:off x="913775" y="216311"/>
            <a:ext cx="10364451" cy="850490"/>
          </a:xfrm>
        </p:spPr>
        <p:txBody>
          <a:bodyPr/>
          <a:lstStyle/>
          <a:p>
            <a:r>
              <a:rPr lang="en-IN" dirty="0"/>
              <a:t>Sales dashboard</a:t>
            </a:r>
          </a:p>
        </p:txBody>
      </p:sp>
      <p:pic>
        <p:nvPicPr>
          <p:cNvPr id="7" name="Content Placeholder 6" descr="A screenshot of a computer screen&#10;&#10;AI-generated content may be incorrect.">
            <a:extLst>
              <a:ext uri="{FF2B5EF4-FFF2-40B4-BE49-F238E27FC236}">
                <a16:creationId xmlns:a16="http://schemas.microsoft.com/office/drawing/2014/main" id="{ADA1CB2B-0FE5-B747-88FF-03F29D2A3002}"/>
              </a:ext>
            </a:extLst>
          </p:cNvPr>
          <p:cNvPicPr>
            <a:picLocks noGrp="1" noChangeAspect="1"/>
          </p:cNvPicPr>
          <p:nvPr>
            <p:ph sz="quarter" idx="13"/>
          </p:nvPr>
        </p:nvPicPr>
        <p:blipFill>
          <a:blip r:embed="rId2"/>
          <a:stretch>
            <a:fillRect/>
          </a:stretch>
        </p:blipFill>
        <p:spPr>
          <a:xfrm>
            <a:off x="724898" y="972192"/>
            <a:ext cx="10889658" cy="5735187"/>
          </a:xfrm>
        </p:spPr>
      </p:pic>
    </p:spTree>
    <p:extLst>
      <p:ext uri="{BB962C8B-B14F-4D97-AF65-F5344CB8AC3E}">
        <p14:creationId xmlns:p14="http://schemas.microsoft.com/office/powerpoint/2010/main" val="36304597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9188-749B-3FDB-9D56-B31C16FB301B}"/>
              </a:ext>
            </a:extLst>
          </p:cNvPr>
          <p:cNvSpPr>
            <a:spLocks noGrp="1"/>
          </p:cNvSpPr>
          <p:nvPr>
            <p:ph type="title"/>
          </p:nvPr>
        </p:nvSpPr>
        <p:spPr>
          <a:xfrm>
            <a:off x="913775" y="126125"/>
            <a:ext cx="10364451" cy="940676"/>
          </a:xfrm>
        </p:spPr>
        <p:txBody>
          <a:bodyPr/>
          <a:lstStyle/>
          <a:p>
            <a:r>
              <a:rPr lang="en-IN" dirty="0"/>
              <a:t>Stores dashboard</a:t>
            </a:r>
          </a:p>
        </p:txBody>
      </p:sp>
      <p:pic>
        <p:nvPicPr>
          <p:cNvPr id="7" name="Content Placeholder 6" descr="A screenshot of a graph&#10;&#10;AI-generated content may be incorrect.">
            <a:extLst>
              <a:ext uri="{FF2B5EF4-FFF2-40B4-BE49-F238E27FC236}">
                <a16:creationId xmlns:a16="http://schemas.microsoft.com/office/drawing/2014/main" id="{D7DEA235-B8A2-0EB9-AEB6-ECF43A39E4C8}"/>
              </a:ext>
            </a:extLst>
          </p:cNvPr>
          <p:cNvPicPr>
            <a:picLocks noGrp="1" noChangeAspect="1"/>
          </p:cNvPicPr>
          <p:nvPr>
            <p:ph sz="quarter" idx="13"/>
          </p:nvPr>
        </p:nvPicPr>
        <p:blipFill>
          <a:blip r:embed="rId2"/>
          <a:stretch>
            <a:fillRect/>
          </a:stretch>
        </p:blipFill>
        <p:spPr>
          <a:xfrm>
            <a:off x="533491" y="935421"/>
            <a:ext cx="11217075" cy="5709713"/>
          </a:xfrm>
        </p:spPr>
      </p:pic>
    </p:spTree>
    <p:extLst>
      <p:ext uri="{BB962C8B-B14F-4D97-AF65-F5344CB8AC3E}">
        <p14:creationId xmlns:p14="http://schemas.microsoft.com/office/powerpoint/2010/main" val="3705015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7AE14-418C-430A-7C23-1355F7805ACB}"/>
              </a:ext>
            </a:extLst>
          </p:cNvPr>
          <p:cNvSpPr>
            <a:spLocks noGrp="1"/>
          </p:cNvSpPr>
          <p:nvPr>
            <p:ph type="title"/>
          </p:nvPr>
        </p:nvSpPr>
        <p:spPr>
          <a:xfrm>
            <a:off x="913775" y="189187"/>
            <a:ext cx="10364451" cy="877614"/>
          </a:xfrm>
        </p:spPr>
        <p:txBody>
          <a:bodyPr/>
          <a:lstStyle/>
          <a:p>
            <a:r>
              <a:rPr lang="en-IN" dirty="0"/>
              <a:t>Returns dashboard</a:t>
            </a:r>
          </a:p>
        </p:txBody>
      </p:sp>
      <p:pic>
        <p:nvPicPr>
          <p:cNvPr id="7" name="Content Placeholder 6" descr="A close-up of a graph&#10;&#10;AI-generated content may be incorrect.">
            <a:extLst>
              <a:ext uri="{FF2B5EF4-FFF2-40B4-BE49-F238E27FC236}">
                <a16:creationId xmlns:a16="http://schemas.microsoft.com/office/drawing/2014/main" id="{2A470D18-6614-19F1-1FC6-942857C2FC13}"/>
              </a:ext>
            </a:extLst>
          </p:cNvPr>
          <p:cNvPicPr>
            <a:picLocks noGrp="1" noChangeAspect="1"/>
          </p:cNvPicPr>
          <p:nvPr>
            <p:ph sz="quarter" idx="13"/>
          </p:nvPr>
        </p:nvPicPr>
        <p:blipFill>
          <a:blip r:embed="rId2"/>
          <a:stretch>
            <a:fillRect/>
          </a:stretch>
        </p:blipFill>
        <p:spPr>
          <a:xfrm>
            <a:off x="716345" y="1066801"/>
            <a:ext cx="11034221" cy="5619404"/>
          </a:xfrm>
        </p:spPr>
      </p:pic>
    </p:spTree>
    <p:extLst>
      <p:ext uri="{BB962C8B-B14F-4D97-AF65-F5344CB8AC3E}">
        <p14:creationId xmlns:p14="http://schemas.microsoft.com/office/powerpoint/2010/main" val="33393478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hite percentage symbol on red background">
            <a:extLst>
              <a:ext uri="{FF2B5EF4-FFF2-40B4-BE49-F238E27FC236}">
                <a16:creationId xmlns:a16="http://schemas.microsoft.com/office/drawing/2014/main" id="{52603C4F-1DB0-7F90-B700-8BC20E1DCC0A}"/>
              </a:ext>
            </a:extLst>
          </p:cNvPr>
          <p:cNvPicPr>
            <a:picLocks noChangeAspect="1"/>
          </p:cNvPicPr>
          <p:nvPr/>
        </p:nvPicPr>
        <p:blipFill>
          <a:blip r:embed="rId3"/>
          <a:srcRect l="48335" r="12491" b="-1"/>
          <a:stretch>
            <a:fillRect/>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E05C3A5-CC95-3257-33BA-FE555DA0188E}"/>
              </a:ext>
            </a:extLst>
          </p:cNvPr>
          <p:cNvSpPr>
            <a:spLocks noGrp="1"/>
          </p:cNvSpPr>
          <p:nvPr>
            <p:ph type="title"/>
          </p:nvPr>
        </p:nvSpPr>
        <p:spPr>
          <a:xfrm>
            <a:off x="4465050" y="618517"/>
            <a:ext cx="6672886" cy="548131"/>
          </a:xfrm>
        </p:spPr>
        <p:txBody>
          <a:bodyPr>
            <a:normAutofit fontScale="90000"/>
          </a:bodyPr>
          <a:lstStyle/>
          <a:p>
            <a:r>
              <a:rPr lang="en-IN" dirty="0"/>
              <a:t>Key insights</a:t>
            </a:r>
          </a:p>
        </p:txBody>
      </p:sp>
      <p:sp>
        <p:nvSpPr>
          <p:cNvPr id="3" name="Content Placeholder 2">
            <a:extLst>
              <a:ext uri="{FF2B5EF4-FFF2-40B4-BE49-F238E27FC236}">
                <a16:creationId xmlns:a16="http://schemas.microsoft.com/office/drawing/2014/main" id="{9F46B5C9-6A77-4D39-FBB8-6BAC829BB268}"/>
              </a:ext>
            </a:extLst>
          </p:cNvPr>
          <p:cNvSpPr>
            <a:spLocks noGrp="1"/>
          </p:cNvSpPr>
          <p:nvPr>
            <p:ph sz="quarter" idx="13"/>
          </p:nvPr>
        </p:nvSpPr>
        <p:spPr>
          <a:xfrm>
            <a:off x="4465048" y="1166648"/>
            <a:ext cx="6672887" cy="5339255"/>
          </a:xfrm>
        </p:spPr>
        <p:txBody>
          <a:bodyPr>
            <a:normAutofit fontScale="92500" lnSpcReduction="10000"/>
          </a:bodyPr>
          <a:lstStyle/>
          <a:p>
            <a:pPr>
              <a:lnSpc>
                <a:spcPct val="110000"/>
              </a:lnSpc>
            </a:pPr>
            <a:r>
              <a:rPr lang="en-US" b="1" dirty="0"/>
              <a:t>Customer Insights</a:t>
            </a:r>
          </a:p>
          <a:p>
            <a:pPr>
              <a:lnSpc>
                <a:spcPct val="110000"/>
              </a:lnSpc>
            </a:pPr>
            <a:r>
              <a:rPr lang="en-US" dirty="0"/>
              <a:t>800 customers, avg. age 44.15; balanced gender ratio 1.04.</a:t>
            </a:r>
          </a:p>
          <a:p>
            <a:pPr>
              <a:lnSpc>
                <a:spcPct val="110000"/>
              </a:lnSpc>
            </a:pPr>
            <a:r>
              <a:rPr lang="en-US" dirty="0"/>
              <a:t>West region most active, but signups declining since 2022.</a:t>
            </a:r>
          </a:p>
          <a:p>
            <a:pPr>
              <a:lnSpc>
                <a:spcPct val="110000"/>
              </a:lnSpc>
            </a:pPr>
            <a:r>
              <a:rPr lang="en-US" dirty="0"/>
              <a:t>Mid-age group drives highest revenue; youth lowest.</a:t>
            </a:r>
          </a:p>
          <a:p>
            <a:pPr>
              <a:lnSpc>
                <a:spcPct val="110000"/>
              </a:lnSpc>
            </a:pPr>
            <a:r>
              <a:rPr lang="en-US" dirty="0"/>
              <a:t>Top 5 customers contribute ₹25.6K profit → loyalty is key</a:t>
            </a:r>
          </a:p>
          <a:p>
            <a:pPr>
              <a:lnSpc>
                <a:spcPct val="110000"/>
              </a:lnSpc>
            </a:pPr>
            <a:r>
              <a:rPr lang="en-US" b="1" dirty="0"/>
              <a:t>Product Performance</a:t>
            </a:r>
          </a:p>
          <a:p>
            <a:pPr>
              <a:lnSpc>
                <a:spcPct val="110000"/>
              </a:lnSpc>
            </a:pPr>
            <a:r>
              <a:rPr lang="en-US" dirty="0"/>
              <a:t>1,200 products, ₹206.23 K profit, avg. margin 34%.</a:t>
            </a:r>
          </a:p>
          <a:p>
            <a:pPr>
              <a:lnSpc>
                <a:spcPct val="110000"/>
              </a:lnSpc>
            </a:pPr>
            <a:r>
              <a:rPr lang="en-US" dirty="0"/>
              <a:t>Personal Care &amp; Apparel lead in profit; Electronics lowest.</a:t>
            </a:r>
          </a:p>
          <a:p>
            <a:pPr>
              <a:lnSpc>
                <a:spcPct val="110000"/>
              </a:lnSpc>
            </a:pPr>
            <a:r>
              <a:rPr lang="en-US" dirty="0"/>
              <a:t>High return rate in Personal Care (27%).</a:t>
            </a:r>
          </a:p>
          <a:p>
            <a:pPr>
              <a:lnSpc>
                <a:spcPct val="110000"/>
              </a:lnSpc>
            </a:pPr>
            <a:r>
              <a:rPr lang="en-US" dirty="0"/>
              <a:t>East &amp; West regions dominate sales; North lags.</a:t>
            </a:r>
          </a:p>
          <a:p>
            <a:pPr>
              <a:lnSpc>
                <a:spcPct val="110000"/>
              </a:lnSpc>
            </a:pPr>
            <a:endParaRPr lang="en-IN" sz="1300" dirty="0"/>
          </a:p>
        </p:txBody>
      </p:sp>
    </p:spTree>
    <p:extLst>
      <p:ext uri="{BB962C8B-B14F-4D97-AF65-F5344CB8AC3E}">
        <p14:creationId xmlns:p14="http://schemas.microsoft.com/office/powerpoint/2010/main" val="3075681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
            <a:extLst>
              <a:ext uri="{FF2B5EF4-FFF2-40B4-BE49-F238E27FC236}">
                <a16:creationId xmlns:a16="http://schemas.microsoft.com/office/drawing/2014/main" id="{6DBF5960-1ABC-2648-4657-6DEF9058E10D}"/>
              </a:ext>
            </a:extLst>
          </p:cNvPr>
          <p:cNvPicPr>
            <a:picLocks noChangeAspect="1"/>
          </p:cNvPicPr>
          <p:nvPr/>
        </p:nvPicPr>
        <p:blipFill>
          <a:blip r:embed="rId2"/>
          <a:srcRect l="26027" r="37293"/>
          <a:stretch>
            <a:fillRect/>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657D7B6-DBD2-664D-86B2-FBFEED733C68}"/>
              </a:ext>
            </a:extLst>
          </p:cNvPr>
          <p:cNvSpPr>
            <a:spLocks noGrp="1"/>
          </p:cNvSpPr>
          <p:nvPr>
            <p:ph type="title"/>
          </p:nvPr>
        </p:nvSpPr>
        <p:spPr>
          <a:xfrm>
            <a:off x="4465050" y="126125"/>
            <a:ext cx="6672886" cy="651641"/>
          </a:xfrm>
        </p:spPr>
        <p:txBody>
          <a:bodyPr>
            <a:normAutofit/>
          </a:bodyPr>
          <a:lstStyle/>
          <a:p>
            <a:r>
              <a:rPr lang="en-IN" dirty="0"/>
              <a:t>Key insights</a:t>
            </a:r>
          </a:p>
        </p:txBody>
      </p:sp>
      <p:sp>
        <p:nvSpPr>
          <p:cNvPr id="3" name="Content Placeholder 2">
            <a:extLst>
              <a:ext uri="{FF2B5EF4-FFF2-40B4-BE49-F238E27FC236}">
                <a16:creationId xmlns:a16="http://schemas.microsoft.com/office/drawing/2014/main" id="{634F9EF9-43BB-FAB5-F54F-4C298DA1A84F}"/>
              </a:ext>
            </a:extLst>
          </p:cNvPr>
          <p:cNvSpPr>
            <a:spLocks noGrp="1"/>
          </p:cNvSpPr>
          <p:nvPr>
            <p:ph sz="quarter" idx="13"/>
          </p:nvPr>
        </p:nvSpPr>
        <p:spPr>
          <a:xfrm>
            <a:off x="4465048" y="777766"/>
            <a:ext cx="6672887" cy="5433848"/>
          </a:xfrm>
        </p:spPr>
        <p:txBody>
          <a:bodyPr>
            <a:normAutofit/>
          </a:bodyPr>
          <a:lstStyle/>
          <a:p>
            <a:pPr>
              <a:lnSpc>
                <a:spcPct val="110000"/>
              </a:lnSpc>
            </a:pPr>
            <a:r>
              <a:rPr lang="en-US" b="1" dirty="0"/>
              <a:t>Sales Overview</a:t>
            </a:r>
          </a:p>
          <a:p>
            <a:pPr>
              <a:lnSpc>
                <a:spcPct val="110000"/>
              </a:lnSpc>
            </a:pPr>
            <a:r>
              <a:rPr lang="en-US" dirty="0"/>
              <a:t>₹340K revenue in last 12 months, ₹206K profit.</a:t>
            </a:r>
          </a:p>
          <a:p>
            <a:pPr>
              <a:lnSpc>
                <a:spcPct val="110000"/>
              </a:lnSpc>
            </a:pPr>
            <a:r>
              <a:rPr lang="en-US" dirty="0"/>
              <a:t>Online sales contribute 70% of revenue.</a:t>
            </a:r>
          </a:p>
          <a:p>
            <a:pPr>
              <a:lnSpc>
                <a:spcPct val="110000"/>
              </a:lnSpc>
            </a:pPr>
            <a:r>
              <a:rPr lang="en-US" dirty="0"/>
              <a:t>Top products: </a:t>
            </a:r>
            <a:r>
              <a:rPr lang="en-US" dirty="0" err="1"/>
              <a:t>BrandC</a:t>
            </a:r>
            <a:r>
              <a:rPr lang="en-US" dirty="0"/>
              <a:t> Air, </a:t>
            </a:r>
            <a:r>
              <a:rPr lang="en-US" dirty="0" err="1"/>
              <a:t>BrandB</a:t>
            </a:r>
            <a:r>
              <a:rPr lang="en-US" dirty="0"/>
              <a:t> Specific.</a:t>
            </a:r>
          </a:p>
          <a:p>
            <a:pPr>
              <a:lnSpc>
                <a:spcPct val="110000"/>
              </a:lnSpc>
            </a:pPr>
            <a:r>
              <a:rPr lang="en-US" dirty="0"/>
              <a:t>Revenue trend declining → need seasonal push.</a:t>
            </a:r>
          </a:p>
          <a:p>
            <a:pPr>
              <a:lnSpc>
                <a:spcPct val="110000"/>
              </a:lnSpc>
            </a:pPr>
            <a:r>
              <a:rPr lang="en-IN" b="1" dirty="0"/>
              <a:t>Store Analysis</a:t>
            </a:r>
          </a:p>
          <a:p>
            <a:pPr>
              <a:lnSpc>
                <a:spcPct val="110000"/>
              </a:lnSpc>
            </a:pPr>
            <a:r>
              <a:rPr lang="en-IN" dirty="0"/>
              <a:t>60 stores, total cost ₹2.41M, avg. cost ₹40K.</a:t>
            </a:r>
          </a:p>
          <a:p>
            <a:pPr>
              <a:lnSpc>
                <a:spcPct val="110000"/>
              </a:lnSpc>
            </a:pPr>
            <a:r>
              <a:rPr lang="en-IN" dirty="0"/>
              <a:t>West region costliest; Robinson PLC most profitable.</a:t>
            </a:r>
          </a:p>
          <a:p>
            <a:pPr>
              <a:lnSpc>
                <a:spcPct val="110000"/>
              </a:lnSpc>
            </a:pPr>
            <a:r>
              <a:rPr lang="en-IN" dirty="0"/>
              <a:t>Flagship stores dominate (35%).</a:t>
            </a:r>
          </a:p>
          <a:p>
            <a:pPr>
              <a:lnSpc>
                <a:spcPct val="110000"/>
              </a:lnSpc>
            </a:pPr>
            <a:r>
              <a:rPr lang="en-IN" dirty="0"/>
              <a:t>Chicago leads cost hotspots → efficiency gap.</a:t>
            </a:r>
          </a:p>
          <a:p>
            <a:pPr>
              <a:lnSpc>
                <a:spcPct val="110000"/>
              </a:lnSpc>
            </a:pPr>
            <a:endParaRPr lang="en-IN" sz="1300" dirty="0"/>
          </a:p>
        </p:txBody>
      </p:sp>
    </p:spTree>
    <p:extLst>
      <p:ext uri="{BB962C8B-B14F-4D97-AF65-F5344CB8AC3E}">
        <p14:creationId xmlns:p14="http://schemas.microsoft.com/office/powerpoint/2010/main" val="364012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3477C-6B63-C333-28E1-53A93AFE9887}"/>
              </a:ext>
            </a:extLst>
          </p:cNvPr>
          <p:cNvSpPr>
            <a:spLocks noGrp="1"/>
          </p:cNvSpPr>
          <p:nvPr>
            <p:ph type="title"/>
          </p:nvPr>
        </p:nvSpPr>
        <p:spPr>
          <a:xfrm>
            <a:off x="913775" y="157655"/>
            <a:ext cx="10364451" cy="746235"/>
          </a:xfrm>
        </p:spPr>
        <p:txBody>
          <a:bodyPr/>
          <a:lstStyle/>
          <a:p>
            <a:r>
              <a:rPr lang="en-IN" dirty="0"/>
              <a:t>Key insights</a:t>
            </a:r>
          </a:p>
        </p:txBody>
      </p:sp>
      <p:sp>
        <p:nvSpPr>
          <p:cNvPr id="3" name="Content Placeholder 2">
            <a:extLst>
              <a:ext uri="{FF2B5EF4-FFF2-40B4-BE49-F238E27FC236}">
                <a16:creationId xmlns:a16="http://schemas.microsoft.com/office/drawing/2014/main" id="{7D3E7A98-3001-3959-0581-3C31602C4D8D}"/>
              </a:ext>
            </a:extLst>
          </p:cNvPr>
          <p:cNvSpPr>
            <a:spLocks noGrp="1"/>
          </p:cNvSpPr>
          <p:nvPr>
            <p:ph sz="quarter" idx="13"/>
          </p:nvPr>
        </p:nvSpPr>
        <p:spPr>
          <a:xfrm>
            <a:off x="913774" y="1240222"/>
            <a:ext cx="6002033" cy="4550978"/>
          </a:xfrm>
        </p:spPr>
        <p:txBody>
          <a:bodyPr/>
          <a:lstStyle/>
          <a:p>
            <a:r>
              <a:rPr lang="en-US" b="1" dirty="0"/>
              <a:t>Return Analysis</a:t>
            </a:r>
          </a:p>
          <a:p>
            <a:r>
              <a:rPr lang="en-US" dirty="0"/>
              <a:t>200 returns, overall </a:t>
            </a:r>
            <a:r>
              <a:rPr lang="en-US"/>
              <a:t>return rate0.07%.</a:t>
            </a:r>
            <a:endParaRPr lang="en-US" dirty="0"/>
          </a:p>
          <a:p>
            <a:r>
              <a:rPr lang="en-US" dirty="0"/>
              <a:t>North has highest returns; Apparel most affected.</a:t>
            </a:r>
          </a:p>
          <a:p>
            <a:r>
              <a:rPr lang="en-US" dirty="0"/>
              <a:t>Main reasons: Defective (31%), Wrong Item (27%).</a:t>
            </a:r>
          </a:p>
          <a:p>
            <a:r>
              <a:rPr lang="en-US" dirty="0"/>
              <a:t>71% returns from online → e-commerce fulfillment issue.</a:t>
            </a:r>
          </a:p>
          <a:p>
            <a:endParaRPr lang="en-IN" dirty="0"/>
          </a:p>
        </p:txBody>
      </p:sp>
      <p:pic>
        <p:nvPicPr>
          <p:cNvPr id="7" name="Picture 6" descr="A diagram of a retail process&#10;&#10;AI-generated content may be incorrect.">
            <a:extLst>
              <a:ext uri="{FF2B5EF4-FFF2-40B4-BE49-F238E27FC236}">
                <a16:creationId xmlns:a16="http://schemas.microsoft.com/office/drawing/2014/main" id="{C568034A-5467-DB51-C0D0-2EBD2E3A6226}"/>
              </a:ext>
            </a:extLst>
          </p:cNvPr>
          <p:cNvPicPr>
            <a:picLocks noChangeAspect="1"/>
          </p:cNvPicPr>
          <p:nvPr/>
        </p:nvPicPr>
        <p:blipFill>
          <a:blip r:embed="rId2"/>
          <a:stretch>
            <a:fillRect/>
          </a:stretch>
        </p:blipFill>
        <p:spPr>
          <a:xfrm>
            <a:off x="7004833" y="1416605"/>
            <a:ext cx="5606149" cy="3664507"/>
          </a:xfrm>
          <a:prstGeom prst="rect">
            <a:avLst/>
          </a:prstGeom>
        </p:spPr>
      </p:pic>
    </p:spTree>
    <p:extLst>
      <p:ext uri="{BB962C8B-B14F-4D97-AF65-F5344CB8AC3E}">
        <p14:creationId xmlns:p14="http://schemas.microsoft.com/office/powerpoint/2010/main" val="695782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8101D-58A5-F8EA-F8FC-56CC891AC6D2}"/>
              </a:ext>
            </a:extLst>
          </p:cNvPr>
          <p:cNvSpPr>
            <a:spLocks noGrp="1"/>
          </p:cNvSpPr>
          <p:nvPr>
            <p:ph type="title"/>
          </p:nvPr>
        </p:nvSpPr>
        <p:spPr>
          <a:xfrm>
            <a:off x="913774" y="609599"/>
            <a:ext cx="10364452" cy="5987846"/>
          </a:xfrm>
        </p:spPr>
        <p:txBody>
          <a:bodyPr>
            <a:normAutofit/>
          </a:bodyPr>
          <a:lstStyle/>
          <a:p>
            <a:r>
              <a:rPr lang="en-IN" sz="6600" dirty="0"/>
              <a:t>Thank you</a:t>
            </a:r>
          </a:p>
        </p:txBody>
      </p:sp>
    </p:spTree>
    <p:extLst>
      <p:ext uri="{BB962C8B-B14F-4D97-AF65-F5344CB8AC3E}">
        <p14:creationId xmlns:p14="http://schemas.microsoft.com/office/powerpoint/2010/main" val="1950047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99</TotalTime>
  <Words>593</Words>
  <Application>Microsoft Office PowerPoint</Application>
  <PresentationFormat>Widescreen</PresentationFormat>
  <Paragraphs>61</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Times New Roman</vt:lpstr>
      <vt:lpstr>Tw Cen MT</vt:lpstr>
      <vt:lpstr>Droplet</vt:lpstr>
      <vt:lpstr>End-to-End Retail Performance and Behavioral Analytics </vt:lpstr>
      <vt:lpstr>Project objective</vt:lpstr>
      <vt:lpstr>Main agenda</vt:lpstr>
      <vt:lpstr>introduction</vt:lpstr>
      <vt:lpstr>Tools used</vt:lpstr>
      <vt:lpstr>Customers dashboard</vt:lpstr>
      <vt:lpstr>Products dashboard</vt:lpstr>
      <vt:lpstr>Sales dashboard</vt:lpstr>
      <vt:lpstr>Stores dashboard</vt:lpstr>
      <vt:lpstr>Returns dashboard</vt:lpstr>
      <vt:lpstr>Key insights</vt:lpstr>
      <vt:lpstr>Key insights</vt:lpstr>
      <vt:lpstr>Key insights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juweriya md</dc:creator>
  <cp:lastModifiedBy>juweriya md</cp:lastModifiedBy>
  <cp:revision>5</cp:revision>
  <dcterms:created xsi:type="dcterms:W3CDTF">2025-09-08T09:07:15Z</dcterms:created>
  <dcterms:modified xsi:type="dcterms:W3CDTF">2025-09-14T05:06:56Z</dcterms:modified>
</cp:coreProperties>
</file>